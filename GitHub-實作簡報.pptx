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4800" b="1">
                <a:solidFill>
                  <a:srgbClr val="F05032"/>
                </a:solidFill>
                <a:latin typeface="Microsoft JhengHei"/>
              </a:defRPr>
            </a:pPr>
            <a:r>
              <a:t>GitHub 核心實作指南</a:t>
            </a:r>
          </a:p>
          <a:p>
            <a:pPr algn="ctr">
              <a:spcAft>
                <a:spcPts val="1000"/>
              </a:spcAft>
              <a:defRPr sz="2200">
                <a:solidFill>
                  <a:srgbClr val="1F2328"/>
                </a:solidFill>
                <a:latin typeface="Microsoft JhengHei"/>
              </a:defRPr>
            </a:pPr>
            <a:r>
              <a:t>手把手步驟、指令與介面操作步驟簡報</a:t>
            </a:r>
          </a:p>
          <a:p>
            <a:pPr algn="ctr">
              <a:defRPr sz="1600">
                <a:solidFill>
                  <a:srgbClr val="57606A"/>
                </a:solidFill>
                <a:latin typeface="Microsoft JhengHei"/>
              </a:defRPr>
            </a:pPr>
            <a:r>
              <a:t>—— GitHub 核心實作教學簡報 ——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1: GitHub 是什麼？開啟 GitHub 首頁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📖 認識 GitHub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GitHub 是全世界最大的程式碼託管平台，開發者可以在上面</a:t>
            </a:r>
            <a:r>
              <a:rPr sz="1200" b="1">
                <a:solidFill>
                  <a:srgbClr val="1F2328"/>
                </a:solidFill>
                <a:latin typeface="Microsoft JhengHei"/>
              </a:rPr>
              <a:t>儲存、管理、合作</a:t>
            </a:r>
            <a:r>
              <a:rPr sz="1200">
                <a:solidFill>
                  <a:srgbClr val="1F2328"/>
                </a:solidFill>
                <a:latin typeface="Microsoft JhengHei"/>
              </a:rPr>
              <a:t>開發軟體專案。它就像程式碼的「Google 雲端硬碟」＋「Facebook 社群」＋「版本控制」的綜合體。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🎯 本課目標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- 了解 GitHub 是什麼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- 開啟 GitHub 官網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- 認識頁面基本元素</a:t>
            </a:r>
          </a:p>
        </p:txBody>
      </p:sp>
      <p:pic>
        <p:nvPicPr>
          <p:cNvPr id="5" name="Picture 4" descr="01-github-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1: GitHub 是什麼？開啟 GitHub 首頁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1. 開啟瀏覽器（Chrome / Edge / Firefox 都可以）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2. 在網址列輸入：</a:t>
            </a:r>
            <a:r>
              <a:rPr sz="1300" b="1">
                <a:solidFill>
                  <a:srgbClr val="F05032"/>
                </a:solidFill>
                <a:latin typeface="Consolas"/>
              </a:rPr>
              <a:t>https://github.com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3. 觀察首頁畫面：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- 正中間有巨大的產品名稱與說明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- 右上角有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Sign in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（登入）與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Sign up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（註冊）按鈕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- 下方有搜尋列，可以搜尋專案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- 頁面往下滾可以看到功能介紹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4. 試著在搜尋列輸入 </a:t>
            </a:r>
            <a:r>
              <a:rPr sz="1300" b="1">
                <a:solidFill>
                  <a:srgbClr val="F05032"/>
                </a:solidFill>
                <a:latin typeface="Consolas"/>
              </a:rPr>
              <a:t>hello-world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，看看會出現什麼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0366D6"/>
                </a:solidFill>
                <a:latin typeface="Microsoft JhengHei"/>
              </a:rPr>
              <a:t>💡 </a:t>
            </a:r>
            <a:r>
              <a:rPr sz="1200" b="1">
                <a:solidFill>
                  <a:srgbClr val="0366D6"/>
                </a:solidFill>
                <a:latin typeface="Microsoft JhengHei"/>
              </a:rPr>
              <a:t>小知識</a:t>
            </a:r>
            <a:r>
              <a:rPr sz="1200" b="1">
                <a:solidFill>
                  <a:srgbClr val="0366D6"/>
                </a:solidFill>
                <a:latin typeface="Microsoft JhengHei"/>
              </a:rPr>
              <a:t>：GitHub 在 2018 年被微軟收購，但依然保持獨立運作，目前有超過 </a:t>
            </a:r>
            <a:r>
              <a:rPr sz="1200" b="1">
                <a:solidFill>
                  <a:srgbClr val="0366D6"/>
                </a:solidFill>
                <a:latin typeface="Microsoft JhengHei"/>
              </a:rPr>
              <a:t>1 億</a:t>
            </a:r>
            <a:r>
              <a:rPr sz="1200" b="1">
                <a:solidFill>
                  <a:srgbClr val="0366D6"/>
                </a:solidFill>
                <a:latin typeface="Microsoft JhengHei"/>
              </a:rPr>
              <a:t>開發者在使用！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2: 註冊 GitHub 帳號（跟著截圖操作）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📖 為什麼要註冊？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沒有帳號只能「看」程式碼，有帳號才能「參與」專案 —— 包含建立自己的儲存庫、提交程式碼、與他人協作。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1. 到 GitHub 首頁 </a:t>
            </a:r>
            <a:r>
              <a:rPr sz="1200" b="1">
                <a:solidFill>
                  <a:srgbClr val="F05032"/>
                </a:solidFill>
                <a:latin typeface="Consolas"/>
              </a:rPr>
              <a:t>https://github.com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2. 點選右上角 </a:t>
            </a:r>
            <a:r>
              <a:rPr sz="1200" b="1">
                <a:solidFill>
                  <a:srgbClr val="1F2328"/>
                </a:solidFill>
                <a:latin typeface="Microsoft JhengHei"/>
              </a:rPr>
              <a:t>Sign up</a:t>
            </a:r>
            <a:r>
              <a:rPr sz="1200">
                <a:solidFill>
                  <a:srgbClr val="1F2328"/>
                </a:solidFill>
                <a:latin typeface="Microsoft JhengHei"/>
              </a:rPr>
              <a:t> 按鈕</a:t>
            </a:r>
          </a:p>
        </p:txBody>
      </p:sp>
      <p:pic>
        <p:nvPicPr>
          <p:cNvPr id="5" name="Picture 4" descr="03-github-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2: 註冊 GitHub 帳號（跟著截圖操作）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3. 輸入你的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Email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（建議使用 Gmail 或學校信箱）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4. 設定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密碼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（至少 8 碼，包含英文與數字）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5. 輸入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使用者名稱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（Username）—— 這是你在 GitHub 上的身分，會出現在網址中，例如 </a:t>
            </a:r>
            <a:r>
              <a:rPr sz="1400" b="1">
                <a:solidFill>
                  <a:srgbClr val="F05032"/>
                </a:solidFill>
                <a:latin typeface="Consolas"/>
              </a:rPr>
              <a:t>github.com/你的名稱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6. 完成驗證（可能會有圖形驗證或信箱驗證）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7. 選擇 Free（免費）方案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8. 完成引導問卷（可跳過）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366D6"/>
                </a:solidFill>
                <a:latin typeface="Microsoft JhengHei"/>
              </a:rPr>
              <a:t>⚠️ 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注意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：使用者名稱一旦註冊就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不能隨意更改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，因為它會影響到你的公開網址。建議使用英文名字 + 數字，例如 </a:t>
            </a:r>
            <a:r>
              <a:rPr sz="1300" b="1">
                <a:solidFill>
                  <a:srgbClr val="F05032"/>
                </a:solidFill>
                <a:latin typeface="Consolas"/>
              </a:rPr>
              <a:t>alexwang2025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3: 登入與個人儀表板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📖 認識你的私人控制台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登入之後，你會看到</a:t>
            </a:r>
            <a:r>
              <a:rPr sz="1200" b="1">
                <a:solidFill>
                  <a:srgbClr val="1F2328"/>
                </a:solidFill>
                <a:latin typeface="Microsoft JhengHei"/>
              </a:rPr>
              <a:t>個人儀表板（Dashboard）</a:t>
            </a:r>
            <a:r>
              <a:rPr sz="1200">
                <a:solidFill>
                  <a:srgbClr val="1F2328"/>
                </a:solidFill>
                <a:latin typeface="Microsoft JhengHei"/>
              </a:rPr>
              <a:t>，這是你在 GitHub 上的「大本營」。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1. 開啟 </a:t>
            </a:r>
            <a:r>
              <a:rPr sz="1200" b="1">
                <a:solidFill>
                  <a:srgbClr val="F05032"/>
                </a:solidFill>
                <a:latin typeface="Consolas"/>
              </a:rPr>
              <a:t>https://github.com/login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2. 輸入 Email 與密碼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3. 按 </a:t>
            </a:r>
            <a:r>
              <a:rPr sz="1200" b="1">
                <a:solidFill>
                  <a:srgbClr val="1F2328"/>
                </a:solidFill>
                <a:latin typeface="Microsoft JhengHei"/>
              </a:rPr>
              <a:t>Sign in</a:t>
            </a:r>
            <a:r>
              <a:rPr sz="1200">
                <a:solidFill>
                  <a:srgbClr val="1F2328"/>
                </a:solidFill>
                <a:latin typeface="Microsoft JhengHei"/>
              </a:rPr>
              <a:t> 登入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4. 登入後觀察儀表板：</a:t>
            </a:r>
          </a:p>
        </p:txBody>
      </p:sp>
      <p:pic>
        <p:nvPicPr>
          <p:cNvPr id="5" name="Picture 4" descr="02-github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3: 登入與個人儀表板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左側：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Recent repositories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（最近使用的儲存庫）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中間：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Following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的人的活動動態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右上角：你的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個人圖示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，點開可進入設定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5. 點選右上角頭像 →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Your profile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，看看你的公開個人檔案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366D6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小知識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：個人檔案頁面的網址是 </a:t>
            </a:r>
            <a:r>
              <a:rPr sz="1300" b="1">
                <a:solidFill>
                  <a:srgbClr val="F05032"/>
                </a:solidFill>
                <a:latin typeface="Consolas"/>
              </a:rPr>
              <a:t>github.com/你的使用者名稱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，你可以把這個網址放在履歷或名片上！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4: 認識 GitHub 的導覽列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366D6"/>
                </a:solidFill>
                <a:latin typeface="Microsoft JhengHei"/>
              </a:rPr>
              <a:t>📖 GitHub 頂端導覽列是你的「遙控器」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學會使用導覽列，就能快速在 GitHub 上到處移動。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1. 登入後，看看頁面最上方的黑色橫條（導覽列）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2. 由左至右認識每個按鈕：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按鈕 | 功能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|------|------|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🔍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搜尋列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| 搜尋儲存庫、使用者、檔案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Pull requests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| 查看你參與的 PR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Issues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| 查看被指派給你的問題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Marketplace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| 擴充功能市集 |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4: 認識 GitHub 的導覽列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|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Explore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| 探索新專案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| 🔔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通知鈴鐺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| 最新動態通知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| ➕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＋號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| 快速建立新儲存庫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| 👤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頭像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| 個人選單（設定、登出等）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3. 滑鼠移到每個按鈕上，看看會不會出現提示文字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提示：導覽列在每一頁 GitHub 的頂端，建議你現在就實際操作一遍！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366D6"/>
                </a:solidFill>
                <a:latin typeface="Microsoft JhengHei"/>
              </a:rPr>
              <a:t>⚠️ 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注意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：搜尋列在導覽列正中間，但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不要跟瀏覽器的網址列搞混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5: 建立你的第一個儲存庫（Repository）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📖 Repository 是什麼？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1F2328"/>
                </a:solidFill>
                <a:latin typeface="Microsoft JhengHei"/>
              </a:rPr>
              <a:t>Repository（儲存庫／倉庫）</a:t>
            </a:r>
            <a:r>
              <a:rPr sz="1200">
                <a:solidFill>
                  <a:srgbClr val="1F2328"/>
                </a:solidFill>
                <a:latin typeface="Microsoft JhengHei"/>
              </a:rPr>
              <a:t> 就像一個專案的資料夾，裡面裝著所有相關檔案。每個專案都是一個儲存庫。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1. 點選導覽列右側的 </a:t>
            </a:r>
            <a:r>
              <a:rPr sz="1200" b="1">
                <a:solidFill>
                  <a:srgbClr val="1F2328"/>
                </a:solidFill>
                <a:latin typeface="Microsoft JhengHei"/>
              </a:rPr>
              <a:t>＋</a:t>
            </a:r>
            <a:r>
              <a:rPr sz="1200">
                <a:solidFill>
                  <a:srgbClr val="1F2328"/>
                </a:solidFill>
                <a:latin typeface="Microsoft JhengHei"/>
              </a:rPr>
              <a:t> → </a:t>
            </a:r>
            <a:r>
              <a:rPr sz="1200" b="1">
                <a:solidFill>
                  <a:srgbClr val="1F2328"/>
                </a:solidFill>
                <a:latin typeface="Microsoft JhengHei"/>
              </a:rPr>
              <a:t>New repository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2. 填寫表單：</a:t>
            </a:r>
          </a:p>
        </p:txBody>
      </p:sp>
      <p:pic>
        <p:nvPicPr>
          <p:cNvPr id="5" name="Picture 4" descr="20-github-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5: 建立你的第一個儲存庫（Repository）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Repository name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：輸入 </a:t>
            </a:r>
            <a:r>
              <a:rPr sz="1400" b="1">
                <a:solidFill>
                  <a:srgbClr val="F05032"/>
                </a:solidFill>
                <a:latin typeface="Consolas"/>
              </a:rPr>
              <a:t>my-first-repo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Description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（選填）：</a:t>
            </a:r>
            <a:r>
              <a:rPr sz="1400" b="1">
                <a:solidFill>
                  <a:srgbClr val="F05032"/>
                </a:solidFill>
                <a:latin typeface="Consolas"/>
              </a:rPr>
              <a:t>這是我的第一個儲存庫！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Public / Private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：選擇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Public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（公開，大家都看得到）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✅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Add a README file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（打勾）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Add .gitignore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：選 </a:t>
            </a:r>
            <a:r>
              <a:rPr sz="1400" b="1">
                <a:solidFill>
                  <a:srgbClr val="F05032"/>
                </a:solidFill>
                <a:latin typeface="Consolas"/>
              </a:rPr>
              <a:t>None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Choose a license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：選 </a:t>
            </a:r>
            <a:r>
              <a:rPr sz="1400" b="1">
                <a:solidFill>
                  <a:srgbClr val="F05032"/>
                </a:solidFill>
                <a:latin typeface="Consolas"/>
              </a:rPr>
              <a:t>MIT License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3. 按綠色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Create repository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按鈕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4. 完成！恭喜你擁有第一個儲存庫 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參考畫面：儲存庫建立完成後的頁面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5: 建立你的第一個儲存庫（Repository）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366D6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小知識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：README.md 是儲存庫的「門面」，訪客第一眼就會看到它。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一定要寫 README！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6: 儲存庫頁面導覽（標籤頁介紹）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📖 學會在 Repository 內到處走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建立儲存庫後，頁面中間會有一排標籤頁，每個標籤都有不同功能。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1. 進入你剛才建立的 </a:t>
            </a:r>
            <a:r>
              <a:rPr sz="1200" b="1">
                <a:solidFill>
                  <a:srgbClr val="F05032"/>
                </a:solidFill>
                <a:latin typeface="Consolas"/>
              </a:rPr>
              <a:t>my-first-repo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2. 觀察中間的標籤列（由左至右）：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| 標籤 | 用途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|------|------|</a:t>
            </a:r>
          </a:p>
        </p:txBody>
      </p:sp>
      <p:pic>
        <p:nvPicPr>
          <p:cNvPr id="5" name="Picture 4" descr="10-github-code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6: 儲存庫頁面導覽（標籤頁介紹）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&lt;&gt; Code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| 檔案列表與 README（預設頁面）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Issues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| 問題回報與討論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Pull requests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| 合併請求（協作核心）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Actions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| 自動化工作流程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Projects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| 專案管理看板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Wiki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| 專案說明文件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Security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| 安全性分析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Insights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| 統計數據（貢獻者、流量等）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Settings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| 儲存庫設定（僅限擁有者）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3. 點點看每個標籤，觀察內容變化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4. 回到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Code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標籤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6: 儲存庫頁面導覽（標籤頁介紹）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366D6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小技巧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：如果你是儲存庫的擁有者，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Settings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 裡可以修改名稱、刪除儲存庫、設定 Collaborator 等。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小心操作，刪了就回不來了！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7: 在 GitHub 上建立新檔案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366D6"/>
                </a:solidFill>
                <a:latin typeface="Microsoft JhengHei"/>
              </a:rPr>
              <a:t>📖 直接在瀏覽器上寫檔案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不需要安裝任何軟體，直接在 GitHub 網頁上就可以新增檔案！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1. 進入你的 </a:t>
            </a:r>
            <a:r>
              <a:rPr sz="1300" b="1">
                <a:solidFill>
                  <a:srgbClr val="F05032"/>
                </a:solidFill>
                <a:latin typeface="Consolas"/>
              </a:rPr>
              <a:t>my-first-repo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2. 確認在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&lt;&gt; Code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標籤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3. 按右上角的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Add file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→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Create new file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4. 在 </a:t>
            </a:r>
            <a:r>
              <a:rPr sz="1300" b="1">
                <a:solidFill>
                  <a:srgbClr val="F05032"/>
                </a:solidFill>
                <a:latin typeface="Consolas"/>
              </a:rPr>
              <a:t>Name your file...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輸入：</a:t>
            </a:r>
            <a:r>
              <a:rPr sz="1300" b="1">
                <a:solidFill>
                  <a:srgbClr val="F05032"/>
                </a:solidFill>
                <a:latin typeface="Consolas"/>
              </a:rPr>
              <a:t>hello.py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5. 在下方的編輯區輸入：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print("Hello, GitHub!")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print("這是我第一個 GitHub 檔案！")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6. 往下滑，看到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Commit new file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區塊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7: 在 GitHub 上建立新檔案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7. 在標題列輸入：</a:t>
            </a:r>
            <a:r>
              <a:rPr sz="1400" b="1">
                <a:solidFill>
                  <a:srgbClr val="F05032"/>
                </a:solidFill>
                <a:latin typeface="Consolas"/>
              </a:rPr>
              <a:t>新增 hello.py 檔案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8. 選擇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Commit directly to the main branch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9. 按綠色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Commit new file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按鈕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提示：編輯器畫面就像一個簡易版的 VS Code！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366D6"/>
                </a:solidFill>
                <a:latin typeface="Microsoft JhengHei"/>
              </a:rPr>
              <a:t>⚠️ 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注意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：檔名不要用中文或特殊符號（空白、</a:t>
            </a:r>
            <a:r>
              <a:rPr sz="1300" b="1">
                <a:solidFill>
                  <a:srgbClr val="F05032"/>
                </a:solidFill>
                <a:latin typeface="Consolas"/>
              </a:rPr>
              <a:t>#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、</a:t>
            </a:r>
            <a:r>
              <a:rPr sz="1300" b="1">
                <a:solidFill>
                  <a:srgbClr val="F05032"/>
                </a:solidFill>
                <a:latin typeface="Consolas"/>
              </a:rPr>
              <a:t>?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 等），建議用英文、數字、底線。中文檔名在終端機操作時可能會有問題。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8: 編輯檔案與 Commit（儲存變更）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366D6"/>
                </a:solidFill>
                <a:latin typeface="Microsoft JhengHei"/>
              </a:rPr>
              <a:t>📖 修改檔案並「提交」新版本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1F2328"/>
                </a:solidFill>
                <a:latin typeface="Microsoft JhengHei"/>
              </a:rPr>
              <a:t>Commit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就像是電玩遊戲的「存檔點」—— 每一次 Commit，GitHub 都會記錄下來，你可以隨時回到任何一個版本。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1. 回到 </a:t>
            </a:r>
            <a:r>
              <a:rPr sz="1300" b="1">
                <a:solidFill>
                  <a:srgbClr val="F05032"/>
                </a:solidFill>
                <a:latin typeface="Consolas"/>
              </a:rPr>
              <a:t>my-first-repo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的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Code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標籤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2. 點選 </a:t>
            </a:r>
            <a:r>
              <a:rPr sz="1300" b="1">
                <a:solidFill>
                  <a:srgbClr val="F05032"/>
                </a:solidFill>
                <a:latin typeface="Consolas"/>
              </a:rPr>
              <a:t>hello.py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進入檔案內容頁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3. 按右上角的 ✏️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編輯筆圖示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（Edit this file）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4. 在檔案最下方新增一行：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print("這是第二次修改！")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5. 往下滑到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Commit changes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區塊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6. 輸入 Commit 訊息：</a:t>
            </a:r>
            <a:r>
              <a:rPr sz="1300" b="1">
                <a:solidFill>
                  <a:srgbClr val="F05032"/>
                </a:solidFill>
                <a:latin typeface="Consolas"/>
              </a:rPr>
              <a:t>更新 hello.py，增加第三行程式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8: 編輯檔案與 Commit（儲存變更）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7. 選擇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Commit directly to the main branch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8. 按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Commit changes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9. 回到檔案頁面，按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History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看看修改紀錄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提示：點進 History 可以看到每次 Commit 的詳細差異（diff）—— 新增的行是綠色的，刪除的行是紅色的。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366D6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Commit 訊息小規則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：第一行簡短說明做了什麼（50 字內），如果需要詳細說明可空一行後再寫。好的 Commit 訊息讓夥伴一看就懂！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9: 認識 README.md 與 Markdown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366D6"/>
                </a:solidFill>
                <a:latin typeface="Microsoft JhengHei"/>
              </a:rPr>
              <a:t>📖 README.md 是你的專案門面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1F2328"/>
                </a:solidFill>
                <a:latin typeface="Microsoft JhengHei"/>
              </a:rPr>
              <a:t>README.md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是 GitHub 儲存庫的自我介紹。</a:t>
            </a:r>
            <a:r>
              <a:rPr sz="1300" b="1">
                <a:solidFill>
                  <a:srgbClr val="F05032"/>
                </a:solidFill>
                <a:latin typeface="Consolas"/>
              </a:rPr>
              <a:t>.md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代表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Markdown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—— 一種輕量級的標記語言，讓你用簡單符號寫出有格式的文件。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1. 進入 </a:t>
            </a:r>
            <a:r>
              <a:rPr sz="1300" b="1">
                <a:solidFill>
                  <a:srgbClr val="F05032"/>
                </a:solidFill>
                <a:latin typeface="Consolas"/>
              </a:rPr>
              <a:t>my-first-repo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2. 點開 </a:t>
            </a:r>
            <a:r>
              <a:rPr sz="1300" b="1">
                <a:solidFill>
                  <a:srgbClr val="F05032"/>
                </a:solidFill>
                <a:latin typeface="Consolas"/>
              </a:rPr>
              <a:t>README.md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檔案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3. 按 ✏️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編輯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，觀察原始內容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4. 把內容改成以下範例：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# 我的第一個儲存庫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這是我在 GitHub 上學習建立的第一個專案！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## 功能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9: 認識 README.md 與 Markdown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- 學習 GitHub 基本操作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- 練習 Markdown 語法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- 建立個人作品集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## 如何使用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1. 複製（Clone）這個儲存庫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2. 打開 </a:t>
            </a:r>
            <a:r>
              <a:rPr sz="1100">
                <a:solidFill>
                  <a:srgbClr val="1F2328"/>
                </a:solidFill>
                <a:latin typeface="Microsoft JhengHei"/>
              </a:rPr>
              <a:t>hello.py</a:t>
            </a:r>
            <a:r>
              <a:rPr sz="1100" b="1">
                <a:solidFill>
                  <a:srgbClr val="F05032"/>
                </a:solidFill>
                <a:latin typeface="Consolas"/>
              </a:rPr>
              <a:t/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3. 用 Python 執行它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## 作者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我是 [你的名字]，一個正在學習程式設計的學生！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5. 按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Preview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看看顯示效果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6. Commit 變更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9: 認識 README.md 與 Markdown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提示：你可以隨時切換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Edit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與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Preview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來確認排版！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366D6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小知識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：README 中的 </a:t>
            </a:r>
            <a:r>
              <a:rPr sz="1300" b="1">
                <a:solidFill>
                  <a:srgbClr val="F05032"/>
                </a:solidFill>
                <a:latin typeface="Consolas"/>
              </a:rPr>
              <a:t>#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 數量代表標題層級，</a:t>
            </a:r>
            <a:r>
              <a:rPr sz="1300" b="1">
                <a:solidFill>
                  <a:srgbClr val="F05032"/>
                </a:solidFill>
                <a:latin typeface="Consolas"/>
              </a:rPr>
              <a:t>#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 越多字越小。記住：</a:t>
            </a:r>
            <a:r>
              <a:rPr sz="1300" b="1">
                <a:solidFill>
                  <a:srgbClr val="F05032"/>
                </a:solidFill>
                <a:latin typeface="Consolas"/>
              </a:rPr>
              <a:t># 一級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 &gt; </a:t>
            </a:r>
            <a:r>
              <a:rPr sz="1300" b="1">
                <a:solidFill>
                  <a:srgbClr val="F05032"/>
                </a:solidFill>
                <a:latin typeface="Consolas"/>
              </a:rPr>
              <a:t>## 二級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 &gt; </a:t>
            </a:r>
            <a:r>
              <a:rPr sz="1300" b="1">
                <a:solidFill>
                  <a:srgbClr val="F05032"/>
                </a:solidFill>
                <a:latin typeface="Consolas"/>
              </a:rPr>
              <a:t>### 三級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10: 瀏覽公開儲存庫（以微軟 VSCode 為例）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📖 看看世界級的開源專案長怎樣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GitHub 上有上千萬個公開儲存庫，我們來看看微軟的 </a:t>
            </a:r>
            <a:r>
              <a:rPr sz="1200" b="1">
                <a:solidFill>
                  <a:srgbClr val="1F2328"/>
                </a:solidFill>
                <a:latin typeface="Microsoft JhengHei"/>
              </a:rPr>
              <a:t>VS Code</a:t>
            </a:r>
            <a:r>
              <a:rPr sz="1200">
                <a:solidFill>
                  <a:srgbClr val="1F2328"/>
                </a:solidFill>
                <a:latin typeface="Microsoft JhengHei"/>
              </a:rPr>
              <a:t> —— 全球最受歡迎的程式編輯器之一。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1. 在 GitHub 搜尋列輸入 </a:t>
            </a:r>
            <a:r>
              <a:rPr sz="1200" b="1">
                <a:solidFill>
                  <a:srgbClr val="F05032"/>
                </a:solidFill>
                <a:latin typeface="Consolas"/>
              </a:rPr>
              <a:t>microsoft/vscode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2. 按 Enter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3. 觀察這個儲存庫：</a:t>
            </a:r>
          </a:p>
        </p:txBody>
      </p:sp>
      <p:pic>
        <p:nvPicPr>
          <p:cNvPr id="5" name="Picture 4" descr="20-github-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10: 瀏覽公開儲存庫（以微軟 VSCode 為例）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Star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數量：超過 16 萬！代表很多人喜歡這個專案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Fork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數量：代表有多少人複製這個專案去修改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License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：MIT（開放原始碼授權）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README.md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：詳細的專案說明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4. 點進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Insights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→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Contributors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：看看有多少人參與開發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5. 點進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Pull requests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：看看目前有哪些正在審核的合併請求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6. 看看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Issues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標籤：看看使用者回報了哪些問題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366D6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想想看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：一個超過 16 萬人 Star 的專案，背後有數千位開發者一起貢獻程式碼。這就是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開源協作的力量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11: 認識 GitHub Explore 探索頁面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📖 像逛書店一樣探索新專案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1F2328"/>
                </a:solidFill>
                <a:latin typeface="Microsoft JhengHei"/>
              </a:rPr>
              <a:t>Explore</a:t>
            </a:r>
            <a:r>
              <a:rPr sz="1200">
                <a:solidFill>
                  <a:srgbClr val="1F2328"/>
                </a:solidFill>
                <a:latin typeface="Microsoft JhengHei"/>
              </a:rPr>
              <a:t> 頁面會根據你的興趣推薦專案，讓你不斷發現新東西。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1. 點選導覽列的 </a:t>
            </a:r>
            <a:r>
              <a:rPr sz="1200" b="1">
                <a:solidFill>
                  <a:srgbClr val="1F2328"/>
                </a:solidFill>
                <a:latin typeface="Microsoft JhengHei"/>
              </a:rPr>
              <a:t>Explore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2. 觀察頁面：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- 上方有分類推薦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200" b="1">
                <a:solidFill>
                  <a:srgbClr val="1F2328"/>
                </a:solidFill>
                <a:latin typeface="Microsoft JhengHei"/>
              </a:rPr>
              <a:t>Explore repositories</a:t>
            </a:r>
            <a:r>
              <a:rPr sz="1200">
                <a:solidFill>
                  <a:srgbClr val="1F2328"/>
                </a:solidFill>
                <a:latin typeface="Microsoft JhengHei"/>
              </a:rPr>
              <a:t>：推薦的儲存庫</a:t>
            </a:r>
          </a:p>
        </p:txBody>
      </p:sp>
      <p:pic>
        <p:nvPicPr>
          <p:cNvPr id="5" name="Picture 4" descr="05-github-expl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11: 認識 GitHub Explore 探索頁面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Trending repositories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：今日/本週/本月熱門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Topics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：熱門主題標籤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3. 點選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Trending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→ 切換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Today / This week / This month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4. 選擇一個感興趣的儲存庫，點進去看看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5. 也可以點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Topics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看看有哪些分類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366D6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小技巧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：Explore 頁面右下角有 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Subscribe to your weekly digest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，可以訂閱每週推薦郵件！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12: 認識 Trending 趨勢頁面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📖 看看現在什麼最熱門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1F2328"/>
                </a:solidFill>
                <a:latin typeface="Microsoft JhengHei"/>
              </a:rPr>
              <a:t>Trending</a:t>
            </a:r>
            <a:r>
              <a:rPr sz="1200">
                <a:solidFill>
                  <a:srgbClr val="1F2328"/>
                </a:solidFill>
                <a:latin typeface="Microsoft JhengHei"/>
              </a:rPr>
              <a:t> 頁面展示 GitHub 上近期最受關注的專案，就像 YouTube 發燒影片一樣！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1. 開啟瀏覽器輸入：</a:t>
            </a:r>
            <a:r>
              <a:rPr sz="1200" b="1">
                <a:solidFill>
                  <a:srgbClr val="F05032"/>
                </a:solidFill>
                <a:latin typeface="Consolas"/>
              </a:rPr>
              <a:t>https://github.com/trending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2. 觀察頁面結構：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- 預設顯示</a:t>
            </a:r>
            <a:r>
              <a:rPr sz="1200" b="1">
                <a:solidFill>
                  <a:srgbClr val="1F2328"/>
                </a:solidFill>
                <a:latin typeface="Microsoft JhengHei"/>
              </a:rPr>
              <a:t>今日</a:t>
            </a:r>
            <a:r>
              <a:rPr sz="1200">
                <a:solidFill>
                  <a:srgbClr val="1F2328"/>
                </a:solidFill>
                <a:latin typeface="Microsoft JhengHei"/>
              </a:rPr>
              <a:t>熱門</a:t>
            </a:r>
          </a:p>
        </p:txBody>
      </p:sp>
      <p:pic>
        <p:nvPicPr>
          <p:cNvPr id="5" name="Picture 4" descr="21-github-tre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12: 認識 Trending 趨勢頁面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可切換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Today / This week / This month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可篩選程式語言（如 Python、JavaScript、TypeScript）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每個專案顯示：名稱、描述、Star 數、Fork 數、今日新增 Star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3. 試試看：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切換到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This week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看看有什麼不同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從語言下拉選單選擇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Python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點進第一名專案，看看它為什麼這麼受歡迎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366D6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想一想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：為什麼一個專案會突然爆紅？可能是因為解決了某個痛點、推出了新功能，或是有 YouTube 影片介紹它。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試著找出原因！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13: 認識 Topics 主題分類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📖 用主題標籤找到同類專案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1F2328"/>
                </a:solidFill>
                <a:latin typeface="Microsoft JhengHei"/>
              </a:rPr>
              <a:t>Topics</a:t>
            </a:r>
            <a:r>
              <a:rPr sz="1200">
                <a:solidFill>
                  <a:srgbClr val="1F2328"/>
                </a:solidFill>
                <a:latin typeface="Microsoft JhengHei"/>
              </a:rPr>
              <a:t> 就像 Instagram 的 Hashtag，幫你把相同主題的專案分類在一起。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1. 開啟 </a:t>
            </a:r>
            <a:r>
              <a:rPr sz="1200" b="1">
                <a:solidFill>
                  <a:srgbClr val="F05032"/>
                </a:solidFill>
                <a:latin typeface="Consolas"/>
              </a:rPr>
              <a:t>https://github.com/topics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2. 觀察頁面：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- 顯示熱門主題徽章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- 每個主題有名稱與簡短說明</a:t>
            </a:r>
          </a:p>
        </p:txBody>
      </p:sp>
      <p:pic>
        <p:nvPicPr>
          <p:cNvPr id="5" name="Picture 4" descr="22-github-top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13: 認識 Topics 主題分類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點進去可以看到該主題下的熱門專案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3. 試試看點選以下主題：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F05032"/>
                </a:solidFill>
                <a:latin typeface="Consolas"/>
              </a:rPr>
              <a:t>game-development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→ 看看有哪些遊戲開發專案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F05032"/>
                </a:solidFill>
                <a:latin typeface="Consolas"/>
              </a:rPr>
              <a:t>machine-learning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→ AI 機器學習專案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F05032"/>
                </a:solidFill>
                <a:latin typeface="Consolas"/>
              </a:rPr>
              <a:t>education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→ 教育相關專案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4. 搜尋感興趣的主題：在 Topics 頁面搜尋 </a:t>
            </a:r>
            <a:r>
              <a:rPr sz="1400" b="1">
                <a:solidFill>
                  <a:srgbClr val="F05032"/>
                </a:solidFill>
                <a:latin typeface="Consolas"/>
              </a:rPr>
              <a:t>web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或 </a:t>
            </a:r>
            <a:r>
              <a:rPr sz="1400" b="1">
                <a:solidFill>
                  <a:srgbClr val="F05032"/>
                </a:solidFill>
                <a:latin typeface="Consolas"/>
              </a:rPr>
              <a:t>python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366D6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如何幫自己的專案加 Topics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：進到儲存庫頁面，右上角找到 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Topics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 區塊，點 ⚙️ 就可以新增標籤囉！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14: GitHub 的 Fork 功能是什麼？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366D6"/>
                </a:solidFill>
                <a:latin typeface="Microsoft JhengHei"/>
              </a:rPr>
              <a:t>📖  Fork = 複製一份別人的專案來玩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1F2328"/>
                </a:solidFill>
                <a:latin typeface="Microsoft JhengHei"/>
              </a:rPr>
              <a:t>Fork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就像把別人的食譜「影印一份」帶回家 —— 你可以開心在上面亂改，完全不會影響到原版。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366D6"/>
                </a:solidFill>
                <a:latin typeface="Microsoft JhengHei"/>
              </a:rPr>
              <a:t>👣 Fork 的使用場景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情境 | 說明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|------|------|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想修改別人的專案 | Fork 到你的帳號下再改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想學習別人怎麼寫的 | Fork 回來研究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想貢獻程式碼 | Fork → 修改 → Pull Request |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366D6"/>
                </a:solidFill>
                <a:latin typeface="Microsoft JhengHei"/>
              </a:rPr>
              <a:t>👣 操作步驟（模擬練習）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1. 找一個感興趣的公開儲存庫（例如 </a:t>
            </a:r>
            <a:r>
              <a:rPr sz="1300" b="1">
                <a:solidFill>
                  <a:srgbClr val="F05032"/>
                </a:solidFill>
                <a:latin typeface="Consolas"/>
              </a:rPr>
              <a:t>github.com/octocat/Hello-World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14: GitHub 的 Fork 功能是什麼？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2. 按右上角的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Fork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按鈕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3. 選擇 Fork 到自己的帳號（或所屬組織）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4. 幾秒後，你就擁有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一份完全一樣的副本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5. 觀察網址變化：原本是 </a:t>
            </a:r>
            <a:r>
              <a:rPr sz="1400" b="1">
                <a:solidFill>
                  <a:srgbClr val="F05032"/>
                </a:solidFill>
                <a:latin typeface="Consolas"/>
              </a:rPr>
              <a:t>octocat/Hello-World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→ 變成 </a:t>
            </a:r>
            <a:r>
              <a:rPr sz="1400" b="1">
                <a:solidFill>
                  <a:srgbClr val="F05032"/>
                </a:solidFill>
                <a:latin typeface="Consolas"/>
              </a:rPr>
              <a:t>你的帳號/Hello-World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6. 在自己的 Fork 中新增檔案或修改內容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提示：Fork 按鈕通常在儲存庫頁面的右上角，Star 按鈕的旁邊。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366D6"/>
                </a:solidFill>
                <a:latin typeface="Microsoft JhengHei"/>
              </a:rPr>
              <a:t>⚠️ 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重要觀念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：Fork 出來的專案跟原專案是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分開的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。想要把你的修改送回原專案，需要使用 Pull Request（下一課會教）！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15: 發送 Pull Request（PR）的流程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📖 Pull Request = 「我想貢獻這段程式碼！」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1F2328"/>
                </a:solidFill>
                <a:latin typeface="Microsoft JhengHei"/>
              </a:rPr>
              <a:t>Pull Request（簡稱 PR）</a:t>
            </a:r>
            <a:r>
              <a:rPr sz="1200">
                <a:solidFill>
                  <a:srgbClr val="1F2328"/>
                </a:solidFill>
                <a:latin typeface="Microsoft JhengHei"/>
              </a:rPr>
              <a:t> 是 GitHub 協作的核心功能。你 Fork 了別人的專案、做了修改，然後發送 PR 請求原專案作者把你的修改「拉」回去。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1. Fork 一個專案到你帳號下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2. 在你的 Fork 中修改檔案（新增功能或修 Bug）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3. Commit 變更</a:t>
            </a:r>
          </a:p>
        </p:txBody>
      </p:sp>
      <p:pic>
        <p:nvPicPr>
          <p:cNvPr id="5" name="Picture 4" descr="10-github-code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15: 發送 Pull Request（PR）的流程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4. 點選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Contribute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→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Open Pull Request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5. 確認比較內容（base repository ← head repository）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6. 填寫 PR 說明：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標題：清楚說明你的修改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內容：描述你做了什麼、為什麼這樣改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7. 按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Create pull request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8. 等待專案維護者審查你的程式碼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366D6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新手友善提示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：許多專案會標示 </a:t>
            </a:r>
            <a:r>
              <a:rPr sz="1300" b="1">
                <a:solidFill>
                  <a:srgbClr val="F05032"/>
                </a:solidFill>
                <a:latin typeface="Consolas"/>
              </a:rPr>
              <a:t>good first issue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 或 </a:t>
            </a:r>
            <a:r>
              <a:rPr sz="1300" b="1">
                <a:solidFill>
                  <a:srgbClr val="F05032"/>
                </a:solidFill>
                <a:latin typeface="Consolas"/>
              </a:rPr>
              <a:t>help wanted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，這些是適合新手貢獻的任務！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16: 認識 Issues 問題追蹤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📖 Issues = 這個專案的「意見箱」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1F2328"/>
                </a:solidFill>
                <a:latin typeface="Microsoft JhengHei"/>
              </a:rPr>
              <a:t>Issues</a:t>
            </a:r>
            <a:r>
              <a:rPr sz="1200">
                <a:solidFill>
                  <a:srgbClr val="1F2328"/>
                </a:solidFill>
                <a:latin typeface="Microsoft JhengHei"/>
              </a:rPr>
              <a:t> 用來追蹤錯誤報告（Bug）、新功能建議（Feature Request）、或任何與專案相關的討論。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1. 進入任何儲存庫，點選 </a:t>
            </a:r>
            <a:r>
              <a:rPr sz="1200" b="1">
                <a:solidFill>
                  <a:srgbClr val="1F2328"/>
                </a:solidFill>
                <a:latin typeface="Microsoft JhengHei"/>
              </a:rPr>
              <a:t>Issues</a:t>
            </a:r>
            <a:r>
              <a:rPr sz="1200">
                <a:solidFill>
                  <a:srgbClr val="1F2328"/>
                </a:solidFill>
                <a:latin typeface="Microsoft JhengHei"/>
              </a:rPr>
              <a:t> 標籤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2. 觀察：</a:t>
            </a:r>
          </a:p>
        </p:txBody>
      </p:sp>
      <p:pic>
        <p:nvPicPr>
          <p:cNvPr id="5" name="Picture 4" descr="09-github-iss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16: 認識 Issues 問題追蹤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已開啟（Open）與已關閉（Closed）的 Issues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每個 Issue 有：編號（#1、#2...）、標題、標籤（Labels）、留言數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3. 點開一個 Issue 看看內容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4. 按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New issue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看看需要填寫什麼（不需要真的送出）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5. 觀察 Labels：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F05032"/>
                </a:solidFill>
                <a:latin typeface="Consolas"/>
              </a:rPr>
              <a:t>bug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：程式錯誤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F05032"/>
                </a:solidFill>
                <a:latin typeface="Consolas"/>
              </a:rPr>
              <a:t>enhancement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：功能改善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F05032"/>
                </a:solidFill>
                <a:latin typeface="Consolas"/>
              </a:rPr>
              <a:t>good first issue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：適合新手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F05032"/>
                </a:solidFill>
                <a:latin typeface="Consolas"/>
              </a:rPr>
              <a:t>help wanted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：需要協助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16: 認識 Issues 問題追蹤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366D6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實用技巧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：在 Issue 留言中使用 </a:t>
            </a:r>
            <a:r>
              <a:rPr sz="1300" b="1">
                <a:solidFill>
                  <a:srgbClr val="F05032"/>
                </a:solidFill>
                <a:latin typeface="Consolas"/>
              </a:rPr>
              <a:t>#號碼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 可以引用其他 Issue（如 </a:t>
            </a:r>
            <a:r>
              <a:rPr sz="1300" b="1">
                <a:solidFill>
                  <a:srgbClr val="F05032"/>
                </a:solidFill>
                <a:latin typeface="Consolas"/>
              </a:rPr>
              <a:t>#42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），使用 </a:t>
            </a:r>
            <a:r>
              <a:rPr sz="1300" b="1">
                <a:solidFill>
                  <a:srgbClr val="F05032"/>
                </a:solidFill>
                <a:latin typeface="Consolas"/>
              </a:rPr>
              <a:t>@人名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 可以 tag 特定的人。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17: GitHub Actions 自動化介紹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📖 Actions = 你的專屬機器人助理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1F2328"/>
                </a:solidFill>
                <a:latin typeface="Microsoft JhengHei"/>
              </a:rPr>
              <a:t>GitHub Actions</a:t>
            </a:r>
            <a:r>
              <a:rPr sz="1200">
                <a:solidFill>
                  <a:srgbClr val="1F2328"/>
                </a:solidFill>
                <a:latin typeface="Microsoft JhengHei"/>
              </a:rPr>
              <a:t> 可以讓你在特定事件發生時自動執行任務 —— 例如有人 Push 程式碼時自動跑測試、或有人建立 Issue 時自動回覆。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1. 進入你的 </a:t>
            </a:r>
            <a:r>
              <a:rPr sz="1200" b="1">
                <a:solidFill>
                  <a:srgbClr val="F05032"/>
                </a:solidFill>
                <a:latin typeface="Consolas"/>
              </a:rPr>
              <a:t>my-first-repo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2. 點選 </a:t>
            </a:r>
            <a:r>
              <a:rPr sz="1200" b="1">
                <a:solidFill>
                  <a:srgbClr val="1F2328"/>
                </a:solidFill>
                <a:latin typeface="Microsoft JhengHei"/>
              </a:rPr>
              <a:t>Actions</a:t>
            </a:r>
            <a:r>
              <a:rPr sz="1200">
                <a:solidFill>
                  <a:srgbClr val="1F2328"/>
                </a:solidFill>
                <a:latin typeface="Microsoft JhengHei"/>
              </a:rPr>
              <a:t> 標籤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3. 看到建議的 workflow 範本</a:t>
            </a:r>
          </a:p>
        </p:txBody>
      </p:sp>
      <p:pic>
        <p:nvPicPr>
          <p:cNvPr id="5" name="Picture 4" descr="08-github-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17: GitHub Actions 自動化介紹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4. 選擇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Simple workflow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→ 按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Configure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5. 觀察 </a:t>
            </a:r>
            <a:r>
              <a:rPr sz="1300" b="1">
                <a:solidFill>
                  <a:srgbClr val="F05032"/>
                </a:solidFill>
                <a:latin typeface="Consolas"/>
              </a:rPr>
              <a:t>.github/workflows/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底下的 YAML 檔案結構：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name: Hello World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on: [push]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jobs: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build: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runs-on: ubuntu-latest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steps: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- uses: actions/checkout@v4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- name: Run a script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run: echo "Hello from GitHub Actions!"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17: GitHub Actions 自動化介紹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6. 按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Commit changes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7. 回到 Actions 標籤，觀察執行狀況（綠色 ✅ 代表成功）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366D6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補充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：YAML 是一種設定檔格式，用縮排（空白）來表示階層。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注意一定要用空格，不能用 Tab！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18: GitHub Copilot AI 輔助介紹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📖 Copilot = 你的 AI 寫程式夥伴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1F2328"/>
                </a:solidFill>
                <a:latin typeface="Microsoft JhengHei"/>
              </a:rPr>
              <a:t>GitHub Copilot</a:t>
            </a:r>
            <a:r>
              <a:rPr sz="1200">
                <a:solidFill>
                  <a:srgbClr val="1F2328"/>
                </a:solidFill>
                <a:latin typeface="Microsoft JhengHei"/>
              </a:rPr>
              <a:t> 是 GitHub 與 OpenAI 合作開發的 AI 程式碼助理，它會根據你寫的程式碼上下文，</a:t>
            </a:r>
            <a:r>
              <a:rPr sz="1200" b="1">
                <a:solidFill>
                  <a:srgbClr val="1F2328"/>
                </a:solidFill>
                <a:latin typeface="Microsoft JhengHei"/>
              </a:rPr>
              <a:t>自動推薦</a:t>
            </a:r>
            <a:r>
              <a:rPr sz="1200">
                <a:solidFill>
                  <a:srgbClr val="1F2328"/>
                </a:solidFill>
                <a:latin typeface="Microsoft JhengHei"/>
              </a:rPr>
              <a:t>下一行程式碼。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1. 開啟 </a:t>
            </a:r>
            <a:r>
              <a:rPr sz="1200" b="1">
                <a:solidFill>
                  <a:srgbClr val="F05032"/>
                </a:solidFill>
                <a:latin typeface="Consolas"/>
              </a:rPr>
              <a:t>https://github.com/features/copilot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2. 觀察 Copilot 的介紹頁面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3. Copilot 能做的三件事：</a:t>
            </a:r>
          </a:p>
        </p:txBody>
      </p:sp>
      <p:pic>
        <p:nvPicPr>
          <p:cNvPr id="5" name="Picture 4" descr="07-github-co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18: GitHub Copilot AI 輔助介紹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自動補完程式碼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：你寫註解，它幫你生出程式碼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解釋程式碼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：圈選一段程式碼，問它這段在做什麼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修改程式碼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：跟它說「把這個改成用 for 迴圈」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4. 看看 Copilot 支援的編輯器：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VS Code（最推薦）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JetBrains 系列（IntelliJ、PyCharm）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Neovim / Vim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5. 學生可以申請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GitHub Student Developer Pack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，裡面包含免費的 Copilot！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18: GitHub Copilot AI 輔助介紹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366D6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注意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：Copilot 並不是免費的（但學生可以免費使用！）。如果你還不會寫程式，建議先學習基礎後再使用 Copilot 當輔助工具。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19: GitHub Pages 免費架站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366D6"/>
                </a:solidFill>
                <a:latin typeface="Microsoft JhengHei"/>
              </a:rPr>
              <a:t>📖 把你的儲存庫變成網站！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1F2328"/>
                </a:solidFill>
                <a:latin typeface="Microsoft JhengHei"/>
              </a:rPr>
              <a:t>GitHub Pages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可以讓你免費把靜態網站掛在 GitHub 上，網址是 </a:t>
            </a:r>
            <a:r>
              <a:rPr sz="1300" b="1">
                <a:solidFill>
                  <a:srgbClr val="F05032"/>
                </a:solidFill>
                <a:latin typeface="Consolas"/>
              </a:rPr>
              <a:t>你的帳號.github.io/儲存庫名稱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1. 建立一個新儲存庫，名稱必須是：</a:t>
            </a:r>
            <a:r>
              <a:rPr sz="1300" b="1">
                <a:solidFill>
                  <a:srgbClr val="F05032"/>
                </a:solidFill>
                <a:latin typeface="Consolas"/>
              </a:rPr>
              <a:t>你的帳號.github.io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（例如使用者是 </a:t>
            </a:r>
            <a:r>
              <a:rPr sz="1300" b="1">
                <a:solidFill>
                  <a:srgbClr val="F05032"/>
                </a:solidFill>
                <a:latin typeface="Consolas"/>
              </a:rPr>
              <a:t>alexwang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，就要取名 </a:t>
            </a:r>
            <a:r>
              <a:rPr sz="1300" b="1">
                <a:solidFill>
                  <a:srgbClr val="F05032"/>
                </a:solidFill>
                <a:latin typeface="Consolas"/>
              </a:rPr>
              <a:t>alexwang.github.io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2. 在儲存庫建立 </a:t>
            </a:r>
            <a:r>
              <a:rPr sz="1300" b="1">
                <a:solidFill>
                  <a:srgbClr val="F05032"/>
                </a:solidFill>
                <a:latin typeface="Consolas"/>
              </a:rPr>
              <a:t>index.html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，內容：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&lt;!DOCTYPE html&gt;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&lt;html&gt;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&lt;head&gt;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&lt;title&gt;我的個人網站&lt;/title&gt;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19: GitHub Pages 免費架站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&lt;/head&gt;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&lt;body&gt;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&lt;h1&gt;歡迎來到我的網站！&lt;/h1&gt;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&lt;p&gt;這是我用 GitHub Pages 架的免費網站！&lt;/p&gt;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&lt;/body&gt;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&lt;/html&gt;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3. Commit 檔案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4. 進到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Settings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→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Pages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5. 在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Branch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選擇 </a:t>
            </a:r>
            <a:r>
              <a:rPr sz="1300" b="1">
                <a:solidFill>
                  <a:srgbClr val="F05032"/>
                </a:solidFill>
                <a:latin typeface="Consolas"/>
              </a:rPr>
              <a:t>main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，按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Save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6. 等待 1-2 分鐘，開啟 </a:t>
            </a:r>
            <a:r>
              <a:rPr sz="1300" b="1">
                <a:solidFill>
                  <a:srgbClr val="F05032"/>
                </a:solidFill>
                <a:latin typeface="Consolas"/>
              </a:rPr>
              <a:t>https://你的帳號.github.io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提示：你可以用 HTML / CSS / JavaScript 來設計個人作品集、班級網站、社團介紹等。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19: GitHub Pages 免費架站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366D6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進階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：GitHub Pages 也支援 Jekyll 靜態網站產生器，可以使用 Markdown 寫文章（就像寫筆記一樣簡單）。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20: GitHub 價格方案（免費版就很夠用）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📖 GitHub 大部分功能都是免費的！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很多人以為 GitHub 要付費，其實</a:t>
            </a:r>
            <a:r>
              <a:rPr sz="1200" b="1">
                <a:solidFill>
                  <a:srgbClr val="1F2328"/>
                </a:solidFill>
                <a:latin typeface="Microsoft JhengHei"/>
              </a:rPr>
              <a:t>免費版（Free）已經非常夠用</a:t>
            </a:r>
            <a:r>
              <a:rPr sz="1200">
                <a:solidFill>
                  <a:srgbClr val="1F2328"/>
                </a:solidFill>
                <a:latin typeface="Microsoft JhengHei"/>
              </a:rPr>
              <a:t>了，特別是對學生來說。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👣 認識各方案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| 功能 | Free（免費） | Team（團隊） | Enterprise（企業）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|------|:----------:|:----------:|:---------------:|</a:t>
            </a:r>
          </a:p>
        </p:txBody>
      </p:sp>
      <p:pic>
        <p:nvPicPr>
          <p:cNvPr id="5" name="Picture 4" descr="06-github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20: GitHub 價格方案（免費版就很夠用）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公開/私人儲存庫 | ✅ 無限 | ✅ 無限 | ✅ 無限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GitHub Actions | ✅ 2000 分鐘/月 | ✅ 3000 分鐘/月 | ✅ 50000 分鐘/月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Copilot | ❌（但有學生免費版） | ✅ | ✅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協作者 | ✅ 無限 | ✅ 團隊管理 | ✅ 進階管理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費用 |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$0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| $4/人/月 | $21/人/月 |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1. 開啟 </a:t>
            </a:r>
            <a:r>
              <a:rPr sz="1300" b="1">
                <a:solidFill>
                  <a:srgbClr val="F05032"/>
                </a:solidFill>
                <a:latin typeface="Consolas"/>
              </a:rPr>
              <a:t>https://github.com/pricing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2. 觀察方案比較表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3. 特別注意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Free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方案包含了：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20: GitHub 價格方案（免費版就很夠用）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無限的公開與私人儲存庫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每月 2000 分鐘的 Actions 運行時間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- 500MB 的儲存空間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4. 如果你是學生，別忘了申請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GitHub Student Developer Pack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🎓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學生福利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：到 </a:t>
            </a:r>
            <a:r>
              <a:rPr sz="1400" b="1">
                <a:solidFill>
                  <a:srgbClr val="F05032"/>
                </a:solidFill>
                <a:latin typeface="Consolas"/>
              </a:rPr>
              <a:t>education.github.com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用學校信箱申請，就可以拿到免費的 Copilot、域名、雲端空間等總價值超過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$1000 美金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的資源！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21: GitHub Skills 互動學習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📖 直接在 GitHub 上學 GitHub！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1F2328"/>
                </a:solidFill>
                <a:latin typeface="Microsoft JhengHei"/>
              </a:rPr>
              <a:t>GitHub Skills</a:t>
            </a:r>
            <a:r>
              <a:rPr sz="1200">
                <a:solidFill>
                  <a:srgbClr val="1F2328"/>
                </a:solidFill>
                <a:latin typeface="Microsoft JhengHei"/>
              </a:rPr>
              <a:t> 是一個互動式學習平台，你可以在實際的儲存庫中一邊操作一邊學習 —— 就像有老師帶著你做實驗！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1. 開啟 </a:t>
            </a:r>
            <a:r>
              <a:rPr sz="1200" b="1">
                <a:solidFill>
                  <a:srgbClr val="F05032"/>
                </a:solidFill>
                <a:latin typeface="Consolas"/>
              </a:rPr>
              <a:t>https://skills.github.com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2. 觀察課程列表（都是免費的）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3. 推薦課程（依順序學習）：</a:t>
            </a:r>
          </a:p>
        </p:txBody>
      </p:sp>
      <p:pic>
        <p:nvPicPr>
          <p:cNvPr id="5" name="Picture 4" descr="23-github-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21: GitHub Skills 互動學習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課程 | 學完後你會...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|------|--------------|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Introduction to GitHub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| 學會建立檔案、Commit、PR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Communicate Using Markdown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| 精通 Markdown 語法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GitHub Pages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| 學會架設靜態網站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Review pull requests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| 學會 Review 別人程式碼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4. 按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Join the course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開始上課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5. 課程會自動建立一個儲存庫給你練習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0366D6"/>
                </a:solidFill>
                <a:latin typeface="Microsoft JhengHei"/>
              </a:rPr>
              <a:t>💡 </a:t>
            </a:r>
            <a:r>
              <a:rPr sz="1200" b="1">
                <a:solidFill>
                  <a:srgbClr val="0366D6"/>
                </a:solidFill>
                <a:latin typeface="Microsoft JhengHei"/>
              </a:rPr>
              <a:t>強烈建議</a:t>
            </a:r>
            <a:r>
              <a:rPr sz="1200" b="1">
                <a:solidFill>
                  <a:srgbClr val="0366D6"/>
                </a:solidFill>
                <a:latin typeface="Microsoft JhengHei"/>
              </a:rPr>
              <a:t>：GitHub Skills 是所有初學者</a:t>
            </a:r>
            <a:r>
              <a:rPr sz="1200" b="1">
                <a:solidFill>
                  <a:srgbClr val="0366D6"/>
                </a:solidFill>
                <a:latin typeface="Microsoft JhengHei"/>
              </a:rPr>
              <a:t>必上</a:t>
            </a:r>
            <a:r>
              <a:rPr sz="1200" b="1">
                <a:solidFill>
                  <a:srgbClr val="0366D6"/>
                </a:solidFill>
                <a:latin typeface="Microsoft JhengHei"/>
              </a:rPr>
              <a:t>的課程！它會引導你在真實的 GitHub 環境中操作，比看書或看影片更有效。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22: GitHub Docs 官方說明文件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📖 遇到問題？先看官方文件！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GitHub 有非常完整的官方文件（GitHub Docs），所有功能都有詳細說明。</a:t>
            </a:r>
            <a:r>
              <a:rPr sz="1200" b="1">
                <a:solidFill>
                  <a:srgbClr val="1F2328"/>
                </a:solidFill>
                <a:latin typeface="Microsoft JhengHei"/>
              </a:rPr>
              <a:t>學 GitHub 一定要知道怎麼查文件！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1. 開啟 </a:t>
            </a:r>
            <a:r>
              <a:rPr sz="1200" b="1">
                <a:solidFill>
                  <a:srgbClr val="F05032"/>
                </a:solidFill>
                <a:latin typeface="Consolas"/>
              </a:rPr>
              <a:t>https://docs.github.com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2. 觀察文件結構：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F2328"/>
                </a:solidFill>
                <a:latin typeface="Microsoft JhengHei"/>
              </a:rPr>
              <a:t>- 左側：目錄（GitHub 的所有功能分類）</a:t>
            </a:r>
          </a:p>
        </p:txBody>
      </p:sp>
      <p:pic>
        <p:nvPicPr>
          <p:cNvPr id="5" name="Picture 4" descr="04-github-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22: GitHub Docs 官方說明文件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- 中間：主要內容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- 右側：本頁快速導覽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3. 試著搜尋以下關鍵字：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F05032"/>
                </a:solidFill>
                <a:latin typeface="Consolas"/>
              </a:rPr>
              <a:t>pull request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→ 看看 PR 的完整說明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F05032"/>
                </a:solidFill>
                <a:latin typeface="Consolas"/>
              </a:rPr>
              <a:t>git push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→ 看看怎麼上傳程式碼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F05032"/>
                </a:solidFill>
                <a:latin typeface="Consolas"/>
              </a:rPr>
              <a:t>github pages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→ 看看免費架站教學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4. 注意文件右上角有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語言切換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（目前支援英文、日文、中文等）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5. 看看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Get started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快速入門區塊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0366D6"/>
                </a:solidFill>
                <a:latin typeface="Microsoft JhengHei"/>
              </a:rPr>
              <a:t>💡 </a:t>
            </a:r>
            <a:r>
              <a:rPr sz="1200" b="1">
                <a:solidFill>
                  <a:srgbClr val="0366D6"/>
                </a:solidFill>
                <a:latin typeface="Microsoft JhengHei"/>
              </a:rPr>
              <a:t>學習關鍵</a:t>
            </a:r>
            <a:r>
              <a:rPr sz="1200" b="1">
                <a:solidFill>
                  <a:srgbClr val="0366D6"/>
                </a:solidFill>
                <a:latin typeface="Microsoft JhengHei"/>
              </a:rPr>
              <a:t>：成為優秀工程師的祕訣不是「背下所有功能」，而是</a:t>
            </a:r>
            <a:r>
              <a:rPr sz="1200" b="1">
                <a:solidFill>
                  <a:srgbClr val="0366D6"/>
                </a:solidFill>
                <a:latin typeface="Microsoft JhengHei"/>
              </a:rPr>
              <a:t>知道在哪裡找到答案</a:t>
            </a:r>
            <a:r>
              <a:rPr sz="1200" b="1">
                <a:solidFill>
                  <a:srgbClr val="0366D6"/>
                </a:solidFill>
                <a:latin typeface="Microsoft JhengHei"/>
              </a:rPr>
              <a:t>。GitHub Docs 就是你最可靠的參考書！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23: GitHub 安全性設定（2FA）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366D6"/>
                </a:solidFill>
                <a:latin typeface="Microsoft JhengHei"/>
              </a:rPr>
              <a:t>📖 保護你的帳號不受入侵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1F2328"/>
                </a:solidFill>
                <a:latin typeface="Microsoft JhengHei"/>
              </a:rPr>
              <a:t>2FA（雙因素驗證）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就像幫你的帳號加上第二道鎖 —— 除了密碼，還需要手機驗證碼才能登入。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1. 點選右上角頭像 →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Settings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2. 左側選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Password and authentication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3. 在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Two-factor authentication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區塊按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Enable two-factor authentication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4. 選擇驗證方式（推薦使用 Authenticator App）：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方式 | 說明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|------|------|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Authenticator App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| 手機 App 產生驗證碼（推薦） |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23: GitHub 安全性設定（2FA）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|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SMS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| 手機簡訊（較不推薦）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|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Security Key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| 實體金鑰（最安全）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5. 下載 Authenticator App（Google Authenticator / Microsoft Authenticator / Authy）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6. 掃描 QR Code 並輸入驗證碼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7.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下載 Recovery Codes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（救援碼）！非常重要！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366D6"/>
                </a:solidFill>
                <a:latin typeface="Microsoft JhengHei"/>
              </a:rPr>
              <a:t>⚠️ 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警告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：Recovery Codes 請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截圖保存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或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列印出來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。如果手機遺失又沒有救援碼，你的帳號可能就再也登不進去了！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366D6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建議</a:t>
            </a:r>
            <a:r>
              <a:rPr sz="1300" b="1">
                <a:solidFill>
                  <a:srgbClr val="0366D6"/>
                </a:solidFill>
                <a:latin typeface="Microsoft JhengHei"/>
              </a:rPr>
              <a:t>：不只是 GitHub，所有重要的帳號（Google、Facebook、Email）都應該開啟 2FA！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24: GitHub Desktop 圖形化工具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366D6"/>
                </a:solidFill>
                <a:latin typeface="Microsoft JhengHei"/>
              </a:rPr>
              <a:t>📖 不想用終端機？那就用 GitHub Desktop！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1F2328"/>
                </a:solidFill>
                <a:latin typeface="Microsoft JhengHei"/>
              </a:rPr>
              <a:t>GitHub Desktop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是一個圖形化應用程式，讓你用滑鼠點擊就能完成 Git 操作 —— 不需要背指令！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366D6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1. 開啟 </a:t>
            </a:r>
            <a:r>
              <a:rPr sz="1300" b="1">
                <a:solidFill>
                  <a:srgbClr val="F05032"/>
                </a:solidFill>
                <a:latin typeface="Consolas"/>
              </a:rPr>
              <a:t>https://desktop.github.com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2. 按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Download for Windows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（或 macOS）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3. 安裝完成後，開啟 GitHub Desktop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4. 用你的 GitHub 帳號登入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5. 試試這些功能：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功能 | 操作方式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|------|---------|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24: GitHub Desktop 圖形化工具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Clone 儲存庫 | File → Clone repository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查看變更 | Changes 標籤 (左側)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輸入 Commit | 下方輸入 Summary + Description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Push 到 GitHub | 按右上角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Push origin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切換分支 | 頂端 </a:t>
            </a:r>
            <a:r>
              <a:rPr sz="1300" b="1">
                <a:solidFill>
                  <a:srgbClr val="1F2328"/>
                </a:solidFill>
                <a:latin typeface="Microsoft JhengHei"/>
              </a:rPr>
              <a:t>Current branch</a:t>
            </a:r>
            <a:r>
              <a:rPr sz="1300">
                <a:solidFill>
                  <a:srgbClr val="1F2328"/>
                </a:solidFill>
                <a:latin typeface="Microsoft JhengHei"/>
              </a:rPr>
              <a:t>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| 查看歷史 | History 標籤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提示：GitHub Desktop 的 Clone 功能會自動把檔案下載到電腦，讓你用 VS Code 或其他編輯器編輯。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0366D6"/>
                </a:solidFill>
                <a:latin typeface="Microsoft JhengHei"/>
              </a:rPr>
              <a:t>💡 </a:t>
            </a:r>
            <a:r>
              <a:rPr sz="1200" b="1">
                <a:solidFill>
                  <a:srgbClr val="0366D6"/>
                </a:solidFill>
                <a:latin typeface="Microsoft JhengHei"/>
              </a:rPr>
              <a:t>推薦流程</a:t>
            </a:r>
            <a:r>
              <a:rPr sz="1200" b="1">
                <a:solidFill>
                  <a:srgbClr val="0366D6"/>
                </a:solidFill>
                <a:latin typeface="Microsoft JhengHei"/>
              </a:rPr>
              <a:t>：用 GitHub Desktop 管理版本 → 用 VS Code 寫程式 → 用 GitHub 網頁協作。</a:t>
            </a:r>
            <a:r>
              <a:rPr sz="1200" b="1">
                <a:solidFill>
                  <a:srgbClr val="0366D6"/>
                </a:solidFill>
                <a:latin typeface="Microsoft JhengHei"/>
              </a:rPr>
              <a:t>三個工具完美配合！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25: GitHub 小總結：學習路徑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366D6"/>
                </a:solidFill>
                <a:latin typeface="Microsoft JhengHei"/>
              </a:rPr>
              <a:t>📖 GitHub 學習地圖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F2328"/>
                </a:solidFill>
                <a:latin typeface="Microsoft JhengHei"/>
              </a:rPr>
              <a:t>經過前面 24 頁的學習，你已經掌握了 GitHub 的核心概念！以下是你的學習路徑總結：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366D6"/>
                </a:solidFill>
                <a:latin typeface="Microsoft JhengHei"/>
              </a:rPr>
              <a:t>🗺️ GitHub 學習路徑圖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第一週：認識與註冊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├── 什麼是 GitHub（第 1 頁）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├── 註冊與登入（第 2-3 頁）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└── 介面導覽（第 4 頁）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第二週：建立第一個專案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├── 建立儲存庫（第 5-6 頁）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├── 新增與編輯檔案（第 7-8 頁）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└── README.md 與 Markdown（第 9 頁）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25: GitHub 小總結：學習路徑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第三週：探索與閱讀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├── 瀏覽公開專案（第 10 頁）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├── Explore / Trending / Topics（第 11-13 頁）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└── GitHub Docs（第 22 頁）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第四週：協作與進階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├── Fork 與 PR（第 14-15 頁）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├── Issues（第 16 頁）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├── Actions / Copilot / Pages（第 17-19 頁）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├── 安全性與 Desktop（第 23-24 頁）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F05032"/>
                </a:solidFill>
                <a:latin typeface="Consolas"/>
              </a:rPr>
              <a:t>└── Skills 互動課程（第 21 頁）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366D6"/>
                </a:solidFill>
                <a:latin typeface="Microsoft JhengHei"/>
              </a:rPr>
              <a:t>🏆 下一步挑戰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05032"/>
                </a:solidFill>
                <a:latin typeface="Microsoft JhengHei"/>
              </a:defRPr>
            </a:pPr>
            <a:r>
              <a:t>頁 25: GitHub 小總結：學習路徑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[ ] 完成 GitHub Skills 的 Introduction to GitHub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[ ] 建立一個個人網站（GitHub Pages）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[ ] 參與一個開源專案的 Issue 討論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 [ ] 發送你的第一個 Pull Request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提示：把你的學習歷程也放在 GitHub 上！建立一個 </a:t>
            </a:r>
            <a:r>
              <a:rPr sz="1400" b="1">
                <a:solidFill>
                  <a:srgbClr val="F05032"/>
                </a:solidFill>
                <a:latin typeface="Consolas"/>
              </a:rPr>
              <a:t>learning-journal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 儲存庫，記錄你學到的東西。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F2328"/>
                </a:solidFill>
                <a:latin typeface="Microsoft JhengHei"/>
              </a:rPr>
              <a:t>🎉 </a:t>
            </a:r>
            <a:r>
              <a:rPr sz="1400" b="1">
                <a:solidFill>
                  <a:srgbClr val="1F2328"/>
                </a:solidFill>
                <a:latin typeface="Microsoft JhengHei"/>
              </a:rPr>
              <a:t>慶祝</a:t>
            </a:r>
            <a:r>
              <a:rPr sz="1400">
                <a:solidFill>
                  <a:srgbClr val="1F2328"/>
                </a:solidFill>
                <a:latin typeface="Microsoft JhengHei"/>
              </a:rPr>
              <a:t>：你已經完成了 GitHub 操作篇！休息一下，接下來要進入 Obsidian 的世界了！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