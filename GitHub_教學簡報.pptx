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5669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Git &amp; GitHub 版本控制</a:t>
            </a:r>
          </a:p>
          <a:p>
            <a:pPr>
              <a:defRPr sz="2000">
                <a:solidFill>
                  <a:srgbClr val="58A6FF"/>
                </a:solidFill>
                <a:latin typeface="Microsoft JhengHei"/>
              </a:defRPr>
            </a:pPr>
            <a:r>
              <a:t>高中/國中版軟體工程與多人協作基礎</a:t>
            </a:r>
          </a:p>
        </p:txBody>
      </p:sp>
      <p:pic>
        <p:nvPicPr>
          <p:cNvPr id="3" name="Picture 2" descr="github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47548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什麼是版本控制？電玩的存檔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**電玩遊戲的存檔**：玩遊戲時，我們可以隨時存檔。改錯了、玩壞了，隨時可以讀取存檔回到過去。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**沒有版本控制的悲劇**：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報告名稱變成：「報告_最終版.doc」、「報告_真的最終版.doc」、「報告_打死不改最終版.doc」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**版本控制系統 (VCS) 的優勢**：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1. **詳細記錄**：誰在什麼時候修改了檔案的哪一行，一目了然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2. **時光機**：隨時可以復原到過去的任一個歷史版本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3. **團隊協作**：多人修改同一個檔案時，系統會智慧合併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Git 與 GitHub：兩者大不同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許多初學者會把這兩者搞混，其實它們是完全不同的東西：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**Git (本地版本控制軟體)**：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安裝在你的本機電腦上的軟體，負責記錄檔案變更、管理分支與合併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離線也可以完全正常使用，不需要網路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**GitHub (雲端代管平台)**：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將你的 Git 本地儲存庫備份到雲端的網站平台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提供網頁圖形介面，強大的多人協作、Pull Request 審查與 Issue 討論區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在電腦上安裝 Git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**Windows 使用者**：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前往官網 `https://git-scm.com` 下載 Windows 安裝檔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安裝時大多保持預設設定，預設編輯器建議選擇 VS Code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**macOS 使用者**：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打開「終端機」(Terminal)，輸入 `git --version`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若未安裝，系統會自動跳出提示引導你安裝 Xcode Command Line Tools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**驗證安裝**：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在命令提示字元/終端機輸入 `git --version`，正確顯示版本號即成功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設定你的 Git 全域身分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安裝好 Git 後，第一件事是告訴 Git 你是誰。每次提交版本時，Git 都會記錄這些資訊：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在終端機輸入以下指令：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config --global user.name "你的名字"` (建議使用英文名稱)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config --global user.email "你的Email@example.com"`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**注意事項**：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`--global` 表示這台電腦上所有的 Git 專案都會預設套用這個身分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Email 建議填寫與 GitHub 帳號相同的 Email，以利日後將貢獻正確連結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輸入 `git config --global --list` 可以檢查目前設定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50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FFFFFF"/>
                </a:solidFill>
                <a:latin typeface="Microsoft JhengHei"/>
              </a:defRPr>
            </a:pPr>
            <a:r>
              <a:t>單元一：Git 核心架構與基本指令</a:t>
            </a:r>
          </a:p>
          <a:p>
            <a:pPr algn="ctr">
              <a:defRPr sz="2000">
                <a:solidFill>
                  <a:srgbClr val="8B949E"/>
                </a:solidFill>
                <a:latin typeface="Microsoft JhengHei"/>
              </a:defRPr>
            </a:pPr>
            <a:r>
              <a:t>—— Git 精選教學單元 ——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Git 三大區塊工作流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Git 版本控制的精髓在於這三個區域的切換：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**1. 工作目錄 (Working Directory)**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你在電腦上實際編輯程式碼、新增或刪除檔案的地方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**2. 暫存區 (Staging Area)**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準備要結帳的「購物車」。你在這裡挑選哪些檔案要納入下個版本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**3. 本地儲存庫 (Repository)**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已經完成提交的永久快照歷史，存放在隱藏的 `.git` 資料夾中</a:t>
            </a:r>
          </a:p>
        </p:txBody>
      </p:sp>
      <p:pic>
        <p:nvPicPr>
          <p:cNvPr id="5" name="Picture 4" descr="git_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初始化儲存庫與狀態檢查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init`：初始化專案**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在你要版控的資料夾下輸入 `git init`，會自動建立 `.git` 資料夾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*提醒*：一個專案只需初始化一次，不要手動修改隱藏的 `.git` 資料夾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status`：檢查狀態**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告訴你目前工作目錄與暫存區的檔案狀況：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**Untracked (未追蹤)**: Git 還不認識的新檔案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**Modified (已修改)**: 檔案被改動但尚未加入暫存區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**Staged (已暫存)**: 已加入暫存區，準備好提交的檔案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將變更提交入庫：Add &amp; Commit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這是 Git 日常最核心的「兩段式提交」操作：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**步驟一：放入暫存區 (Staging)**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add hello.txt`: 將指定檔案的修改放入購物車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add .` (或 `git add -A`): 將目前所有修改一次塞入購物車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**步驟二：提交保存 (Commit)**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commit -m "新增首頁功能"`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這會將暫存區的檔案打包成一個永久的版本快照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`-m` 後面是提交訊息，必須簡述這版「做了什麼修改」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如何寫出好的 Commit 訊息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好的 Commit 訊息是專案維護的關鍵，建議遵守 **Conventional Commits** 規範：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格式：`&lt;type&gt;: &lt;description&gt;` (類型: 簡短說明)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**常用類型 (Type)**：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`feat`: 新增功能 (Feature)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`fix`: 修正錯誤 (Bug Fix)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`docs`: 修改文件或 README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`style`: 程式碼格式調整 (空格、縮排等，不影響執行結果)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`refactor`: 重構程式碼 (改寫邏輯，但功能不變)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好的範例：`feat: 整合 Google OAuth 登入功能`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檢視歷史紀錄：Log &amp; Diff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log`：翻閱版本紀錄**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列出過去所有的 Commit 歷史、作者、日期與提交訊息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log --oneline`: 精簡版歷史，一行顯示一筆提交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log -3`: 只顯示逆向 3 筆資料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diff`：比較檔案差異**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查看檔案修改了哪些具體程式碼行 (綠色 `+` 代表新增，紅色 `-` 代表刪除)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diff`: 查看工作目錄與暫存區的差異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diff --staged`: 查看暫存區與上次提交版本間的差異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忽略檔案 .gitignore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並非所有檔案都該上傳。有些檔案（如密碼檔、大型套件、編譯暫存檔）應排除在版控之外：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在專案根目錄建立名為 `.gitignore` 的檔案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在裡面逐行寫入要忽略的檔案名稱或萬用規則：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`*.log` (忽略所有日誌檔)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`.env` (忽略環境變數密碼檔)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`node_modules/` (忽略前端套件依賴資料夾)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**注意事項**：已經被 Git 追蹤的檔案不受此檔影響。必須先執行 `git rm --cached &lt;檔名&gt;` 解除追蹤後，才會被 ignore。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時光機復原變更：Restore &amp; Reset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restore &lt;檔名&gt;`：放棄修改**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放記工作目錄中未暫存的修改，回到上次提交的狀態（此操作無法復原！）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restore --staged &lt;檔名&gt;`：取消暫存**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將檔案從暫存區拿出來，回復成 modified 狀態 (等同取消 `git add`)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reset HEAD~1`：撤銷提交**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reset --soft HEAD~1`: 撤銷上一次 commit，但保留檔案修改於暫存區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`git reset --hard HEAD~1`: 徹底抹除上一次 commit 與所有變更 (危險！)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Commit 補救與 Stash 暫存技巧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commit --amend`：補救最後一次提交**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如果剛 commit 完發現訊息寫錯，或少 add 了一個檔案，可重新 `git add` 後輸入 `git commit --amend --no-edit` 合併入上一次提交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**`git stash`：臨時儲存工作進度**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當你手頭功能寫到一半，突然要切去別的分支修正緊急錯誤時：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輸入 `git stash` 暫存目前修改，讓工作目錄回到乾淨狀態</a:t>
            </a:r>
          </a:p>
          <a:p>
            <a:pPr lvl="2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修完錯誤後，切回原分支輸入 `git stash pop` 還原進度繼續寫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50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FFFFFF"/>
                </a:solidFill>
                <a:latin typeface="Microsoft JhengHei"/>
              </a:defRPr>
            </a:pPr>
            <a:r>
              <a:t>單元二：Git 分支與平行宇宙開發</a:t>
            </a:r>
          </a:p>
          <a:p>
            <a:pPr algn="ctr">
              <a:defRPr sz="2000">
                <a:solidFill>
                  <a:srgbClr val="8B949E"/>
                </a:solidFill>
                <a:latin typeface="Microsoft JhengHei"/>
              </a:defRPr>
            </a:pPr>
            <a:r>
              <a:t>—— Git 精選教學單元 ——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平行宇宙：Branch, Switch &amp; Merge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分支 (Branch) 讓開發者可以在獨立的平行宇宙中實驗，不影響主線 `main`：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**分支常用指令**：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branch`: 列出目前本地的所有分支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branch &lt;新分支名&gt;`: 建立新分支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switch &lt;分支名&gt;` (舊版為 `checkout`): 切換至指定分支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switch -c &lt;新分支名&gt;`: 建立分支並直接切換過去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merge &lt;分支名&gt;`: 將指定分支合併回目前分支</a:t>
            </a:r>
          </a:p>
        </p:txBody>
      </p:sp>
      <p:pic>
        <p:nvPicPr>
          <p:cNvPr id="5" name="Picture 4" descr="git_bra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手動解決合併衝突 (Merge Conflict)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**衝突產生的原因**：當兩個分支修改了同一個檔案的同一個區域，Git 合併時不知道聽誰的，就會停下來請你手動排除。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**衝突檔案標記格式**：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`&lt;&lt;&lt;&lt;&lt;&lt;&lt; HEAD` (你目前分支的內容)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`=======` (分隔線)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`&gt;&gt;&gt;&gt;&gt;&gt;&gt; feature-branch` (要合併進來的內容)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**排除步驟**：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1. 開啟衝突檔案，手動刪除衝突標記並決定要保留哪些程式碼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2. `git add &lt;檔名&gt;` 代表衝突已解決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3. 輸入 `git commit` 完成合併提交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分支策略：Git Flow vs GitHub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05032"/>
                </a:solidFill>
                <a:latin typeface="Microsoft JhengHei"/>
              </a:defRPr>
            </a:pPr>
            <a:r>
              <a:t>Git Flow (嚴謹、固定發布)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主分支為 `main` (正式版) 與 `develop` (開發版)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開發功能時從 `develop` 分出 `feature/` 分支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準備發行時使用 `release/`，修 bug 使用 `hotfix/`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結構清晰但流程繁雜，適合大型專案與有固定產品發行週期的團隊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8B949E"/>
                </a:solidFill>
                <a:latin typeface="Microsoft JhengHei"/>
              </a:defRPr>
            </a:pPr>
            <a:r>
              <a:t>GitHub Flow (輕量、持續部署)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9456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只有一條主要分支 `main`，且隨時保持可部署狀態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要開發功能時直接從 `main` 分出 `feature-xxx` 分支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開發完成推送至雲端，發起 Pull Request (PR) 進行代碼審查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審查通過直接合併回 `main` 並自動部署，流程極簡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50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FFFFFF"/>
                </a:solidFill>
                <a:latin typeface="Microsoft JhengHei"/>
              </a:defRPr>
            </a:pPr>
            <a:r>
              <a:t>單元三：GitHub 雲端代管與團隊協作</a:t>
            </a:r>
          </a:p>
          <a:p>
            <a:pPr algn="ctr">
              <a:defRPr sz="2000">
                <a:solidFill>
                  <a:srgbClr val="8B949E"/>
                </a:solidFill>
                <a:latin typeface="Microsoft JhengHei"/>
              </a:defRPr>
            </a:pPr>
            <a:r>
              <a:t>—— Git 精選教學單元 ——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與 GitHub 連線：Push &amp; Pull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將本地代碼上傳雲端，或從雲端下載專案：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**常用指令**：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remote add origin &lt;GitHub網址&gt;`: 將本地儲存庫關聯至遠端倉庫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push -u origin main`: 首次推送 main 分支並設定 upstream，之後只需打 `git push`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clone &lt;網址&gt;`: 下載並複製 GitHub 上的專案到本地電腦</a:t>
            </a:r>
          </a:p>
          <a:p>
            <a:pPr lvl="1">
              <a:spcAft>
                <a:spcPts val="1000"/>
              </a:spcAft>
              <a:defRPr sz="1600">
                <a:solidFill>
                  <a:srgbClr val="FFFFFF"/>
                </a:solidFill>
                <a:latin typeface="Microsoft JhengHei"/>
              </a:defRPr>
            </a:pPr>
            <a:r>
              <a:t>`git pull`: 從遠端更新最新提交並自動合併到本地</a:t>
            </a:r>
          </a:p>
        </p:txBody>
      </p:sp>
      <p:pic>
        <p:nvPicPr>
          <p:cNvPr id="5" name="Picture 4" descr="github_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安全連線設定：SSH 與 PAT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GitHub 已停用傳統密碼推送，目前必須使用以下兩種安全方式驗證：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**1. SSH 金鑰連線 (免密碼，最推薦)**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在本地終端機執行 `ssh-keygen -t ed25519` 產生公私鑰對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將公鑰 (`.pub` 檔內容) 貼到 GitHub Settings ➡ SSH Keys 中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驗證成功後，即可免輸入帳密進行推送與拉取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**2. Personal Access Token (PAT) 認證**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在 GitHub Developer Settings 產生一串 Token 代替密碼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可設定存取權限範圍與到期日，安全性高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Pull Request (PR) 與程式碼審查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**Pull Request (PR)** 是 GitHub 團隊協作的最核心功能：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當你修改完程式碼並 push 自己的分支後，在 GitHub 網頁發起 PR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PR 是一個「請求合併通知」，向團隊展示修改的檔案 diff 差異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**Code Review (程式碼審查)**：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團隊成員會在 PR 頁面逐行檢視代碼，並在行內留言討論與建議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審查通過後，管理員點擊 Merge，將分支合併回主線 `main`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這是確保程式碼品質與團隊知識分享的最有效流程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Fork 專案與 Sync 上游同步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參與開源專案或沒有寫入權限的 Repository 時，使用 **Fork** 流程：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**Fork**：將別人的 Repository 複製一份到你個人的 GitHub 帳號下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**Clone &amp; 修改**：將你個人的 Fork 複製到本地電腦修改並 commit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**Sync Fork**：定期將原始作者的更新同步回你的 Fork（使用 `git remote add upstream &lt;原網址&gt;`）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**發送 PR**：修改完成後，發起 Pull Request 回原始專案，請求對方合併你的修改。這就是貢獻開源代碼的標準做法！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GitHub Actions、Pages 與 Codespaces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GitHub 提供了一整套開發者生態工具：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**GitHub Pages**：完全免費！直接將你儲存庫中的靜態 HTML/CSS/JS 網站部署上線 (如個人履歷、作品集)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**GitHub Actions (CI/CD)**：自動化工作流，在每次 push 時自動執行測試、編譯，或將網站自動部署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**GitHub Codespaces**：在雲端運行的 VS Code 開發虛擬機，就算沒有帶電腦，用 iPad 開瀏覽器也能寫程式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Microsoft JhengHei"/>
              </a:defRPr>
            </a:pPr>
            <a:r>
              <a:t>Git 實作挑戰：開始第一步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Git 最好的學習方式是「實作」。今天請完成以下挑戰：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1. **註冊 GitHub 帳號**並啟用雙因素驗證 (2FA)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2. **建立特殊同名儲存庫**：新建 `你的帳號/你的帳號` 儲存庫，填寫 `README.md`，這會變成你的 GitHub 個人主頁！</a:t>
            </a:r>
          </a:p>
          <a:p>
            <a:pPr lvl="1">
              <a:spcAft>
                <a:spcPts val="1000"/>
              </a:spcAft>
              <a:defRPr sz="1800">
                <a:solidFill>
                  <a:srgbClr val="FFFFFF"/>
                </a:solidFill>
                <a:latin typeface="Microsoft JhengHei"/>
              </a:defRPr>
            </a:pPr>
            <a:r>
              <a:t>3. **建立一個測試專案**，練習 `add` ➡ `commit` ➡ `push` 的完整流程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Git 幾乎可以救回任何已提交的檔案，不要害怕輸入指令，開始動手吧！🎉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