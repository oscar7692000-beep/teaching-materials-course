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5669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1F2328"/>
                </a:solidFill>
                <a:latin typeface="Microsoft JhengHei"/>
              </a:defRPr>
            </a:pPr>
            <a:r>
              <a:t>Git &amp; GitHub 版本控制</a:t>
            </a:r>
          </a:p>
          <a:p>
            <a:pPr>
              <a:defRPr sz="2000">
                <a:solidFill>
                  <a:srgbClr val="0366D6"/>
                </a:solidFill>
                <a:latin typeface="Microsoft JhengHei"/>
              </a:defRPr>
            </a:pPr>
            <a:r>
              <a:t>高中/國中版軟體工程與多人協作基礎</a:t>
            </a:r>
          </a:p>
        </p:txBody>
      </p:sp>
      <p:pic>
        <p:nvPicPr>
          <p:cNvPr id="3" name="Picture 2" descr="github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什麼是版本控制？電玩的存檔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電玩遊戲的存檔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：玩遊戲時，我們可以隨時存檔。改錯了、玩壞了，隨時可以讀取存檔回到過去。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沒有版本控制的悲劇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報告名稱變成：「報告_最終版.doc」、「報告_真的最終版.doc」、「報告_打死不改最終版.doc」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版本控制系統 (VCS) 的優勢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1. </a:t>
            </a:r>
            <a:r>
              <a:rPr sz="1800" b="1">
                <a:solidFill>
                  <a:srgbClr val="1F2328"/>
                </a:solidFill>
                <a:latin typeface="Microsoft JhengHei"/>
              </a:rPr>
              <a:t>詳細記錄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：誰在什麼時候修改了檔案的哪一行，一目了然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2. </a:t>
            </a:r>
            <a:r>
              <a:rPr sz="1800" b="1">
                <a:solidFill>
                  <a:srgbClr val="1F2328"/>
                </a:solidFill>
                <a:latin typeface="Microsoft JhengHei"/>
              </a:rPr>
              <a:t>時光機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：隨時可以復原到過去的任一個歷史版本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3. </a:t>
            </a:r>
            <a:r>
              <a:rPr sz="1800" b="1">
                <a:solidFill>
                  <a:srgbClr val="1F2328"/>
                </a:solidFill>
                <a:latin typeface="Microsoft JhengHei"/>
              </a:rPr>
              <a:t>團隊協作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：多人修改同一個檔案時，系統會智慧合併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Git 與 GitHub：兩者大不同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許多初學者會把這兩者搞混，其實它們是完全不同的東西：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Git (本地版本控制軟體)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安裝在你的本機電腦上的軟體，負責記錄檔案變更、管理分支與合併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離線也可以完全正常使用，不需要網路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GitHub (雲端代管平台)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將你的 Git 本地儲存庫備份到雲端的網站平台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提供網頁圖形介面，強大的多人協作、Pull Request 審查與 Issue 討論區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在電腦上安裝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Windows 使用者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前往官網 </a:t>
            </a:r>
            <a:r>
              <a:rPr sz="1800" b="1">
                <a:solidFill>
                  <a:srgbClr val="F05032"/>
                </a:solidFill>
                <a:latin typeface="Consolas"/>
              </a:rPr>
              <a:t>https://git-scm.com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下載 Windows 安裝檔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安裝時大多保持預設設定，預設編輯器建議選擇 VS Code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macOS 使用者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打開「終端機」(Terminal)，輸入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--version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若未安裝，系統會自動跳出提示引導你安裝 Xcode Command Line Tools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驗證安裝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在命令提示字元/終端機輸入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--version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，正確顯示版本號即成功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設定你的 Git 全域身分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安裝好 Git 後，第一件事是告訴 Git 你是誰。每次提交版本時，Git 都會記錄這些資訊：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在終端機輸入以下指令：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config --global user.name "你的名字"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(建議使用英文名稱)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config --global user.email "你的Email@example.com"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注意事項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--global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表示這台電腦上所有的 Git 專案都會預設套用這個身分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Email 建議填寫與 GitHub 帳號相同的 Email，以利日後將貢獻正確連結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輸入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config --global --list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可以檢查目前設定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50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1F2328"/>
                </a:solidFill>
                <a:latin typeface="Microsoft JhengHei"/>
              </a:defRPr>
            </a:pPr>
            <a:r>
              <a:t>單元一：Git 核心架構與基本指令</a:t>
            </a:r>
          </a:p>
          <a:p>
            <a:pPr algn="ctr">
              <a:defRPr sz="2000">
                <a:solidFill>
                  <a:srgbClr val="57606A"/>
                </a:solidFill>
                <a:latin typeface="Microsoft JhengHei"/>
              </a:defRPr>
            </a:pPr>
            <a:r>
              <a:t>—— Git 精選教學單元 ——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Git 三大區塊工作流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Git 版本控制的精髓在於這三個區域的切換：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1. 工作目錄 (Working Directory)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你在電腦上實際編輯程式碼、新增或刪除檔案的地方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2. 暫存區 (Staging Area)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準備要結帳的「購物車」。你在這裡挑選哪些檔案要納入下個版本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3. 本地儲存庫 (Repository)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已經完成提交的永久快照歷史，存放在隱藏的 </a:t>
            </a:r>
            <a:r>
              <a:rPr sz="1600" b="1">
                <a:solidFill>
                  <a:srgbClr val="F05032"/>
                </a:solidFill>
                <a:latin typeface="Consolas"/>
              </a:rPr>
              <a:t>.git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資料夾中</a:t>
            </a:r>
          </a:p>
        </p:txBody>
      </p:sp>
      <p:pic>
        <p:nvPicPr>
          <p:cNvPr id="6" name="Picture 5" descr="git_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初始化儲存庫與狀態檢查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init`：初始化專案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在你要版控的資料夾下輸入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init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，會自動建立 </a:t>
            </a:r>
            <a:r>
              <a:rPr sz="1800" b="1">
                <a:solidFill>
                  <a:srgbClr val="F05032"/>
                </a:solidFill>
                <a:latin typeface="Consolas"/>
              </a:rPr>
              <a:t>.git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資料夾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*提醒*：一個專案只需初始化一次，不要手動修改隱藏的 </a:t>
            </a:r>
            <a:r>
              <a:rPr sz="1800" b="1">
                <a:solidFill>
                  <a:srgbClr val="F05032"/>
                </a:solidFill>
                <a:latin typeface="Consolas"/>
              </a:rPr>
              <a:t>.git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資料夾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status`：檢查狀態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告訴你目前工作目錄與暫存區的檔案狀況：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1F2328"/>
                </a:solidFill>
                <a:latin typeface="Microsoft JhengHei"/>
              </a:rPr>
              <a:t>Untracked (未追蹤)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Git 還不認識的新檔案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1F2328"/>
                </a:solidFill>
                <a:latin typeface="Microsoft JhengHei"/>
              </a:rPr>
              <a:t>Modified (已修改)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檔案被改動但尚未加入暫存區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1F2328"/>
                </a:solidFill>
                <a:latin typeface="Microsoft JhengHei"/>
              </a:rPr>
              <a:t>Staged (已暫存)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已加入暫存區，準備好提交的檔案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將變更提交入庫：Add &amp;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這是 Git 日常最核心的「兩段式提交」操作：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步驟一：放入暫存區 (Staging)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add hello.txt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將指定檔案的修改放入購物車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add .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(或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add -A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): 將目前所有修改一次塞入購物車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步驟二：提交保存 (Commit)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commit -m "新增首頁功能"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這會將暫存區的檔案打包成一個永久的版本快照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-m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後面是提交訊息，必須簡述這版「做了什麼修改」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如何寫出好的 Commit 訊息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好的 Commit 訊息是專案維護的關鍵，建議遵守 </a:t>
            </a:r>
            <a:r>
              <a:rPr sz="2000" b="1">
                <a:solidFill>
                  <a:srgbClr val="1F2328"/>
                </a:solidFill>
                <a:latin typeface="Microsoft JhengHei"/>
              </a:rPr>
              <a:t>Conventional Commits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 規範：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格式：</a:t>
            </a:r>
            <a:r>
              <a:rPr sz="2000" b="1">
                <a:solidFill>
                  <a:srgbClr val="F05032"/>
                </a:solidFill>
                <a:latin typeface="Consolas"/>
              </a:rPr>
              <a:t>&lt;type&gt;: &lt;description&gt;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 (類型: 簡短說明)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常用類型 (Type)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feat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新增功能 (Feature)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fix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修正錯誤 (Bug Fix)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docs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修改文件或 README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style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程式碼格式調整 (空格、縮排等，不影響執行結果)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refactor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重構程式碼 (改寫邏輯，但功能不變)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好的範例：</a:t>
            </a:r>
            <a:r>
              <a:rPr sz="2000" b="1">
                <a:solidFill>
                  <a:srgbClr val="F05032"/>
                </a:solidFill>
                <a:latin typeface="Consolas"/>
              </a:rPr>
              <a:t>feat: 整合 Google OAuth 登入功能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檢視歷史紀錄：Log &amp; Diff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log`：翻閱版本紀錄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列出過去所有的 Commit 歷史、作者、日期與提交訊息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log --oneline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精簡版歷史，一行顯示一筆提交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log -3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只顯示逆向 3 筆資料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diff`：比較檔案差異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查看檔案修改了哪些具體程式碼行 (綠色 </a:t>
            </a:r>
            <a:r>
              <a:rPr sz="1800" b="1">
                <a:solidFill>
                  <a:srgbClr val="F05032"/>
                </a:solidFill>
                <a:latin typeface="Consolas"/>
              </a:rPr>
              <a:t>+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代表新增，紅色 </a:t>
            </a:r>
            <a:r>
              <a:rPr sz="1800" b="1">
                <a:solidFill>
                  <a:srgbClr val="F05032"/>
                </a:solidFill>
                <a:latin typeface="Consolas"/>
              </a:rPr>
              <a:t>-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代表刪除)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diff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查看工作目錄與暫存區的差異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diff --staged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查看暫存區與上次提交版本間的差異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忽略檔案 .gitignore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並非所有檔案都該上傳。有些檔案（如密碼檔、大型套件、編譯暫存檔）應排除在版控之外：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在專案根目錄建立名為 </a:t>
            </a:r>
            <a:r>
              <a:rPr sz="1800" b="1">
                <a:solidFill>
                  <a:srgbClr val="F05032"/>
                </a:solidFill>
                <a:latin typeface="Consolas"/>
              </a:rPr>
              <a:t>.gitignore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的檔案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在裡面逐行寫入要忽略的檔案名稱或萬用規則：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*.log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(忽略所有日誌檔)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.env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(忽略環境變數密碼檔)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node_modules/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(忽略前端套件依賴資料夾)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注意事項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：已經被 Git 追蹤的檔案不受此檔影響。必須先執行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rm --cached &lt;檔名&gt;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解除追蹤後，才會被 ignore。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時光機復原變更：Restore &amp;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restore &lt;檔名&gt;`：放棄修改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放記工作目錄中未暫存的修改，回到上次提交的狀態（此操作無法復原！）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restore --staged &lt;檔名&gt;`：取消暫存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將檔案從暫存區拿出來，回復成 modified 狀態 (等同取消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add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reset HEAD~1`：撤銷提交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reset --soft HEAD~1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撤銷上一次 commit，但保留檔案修改於暫存區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git reset --hard HEAD~1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: 徹底抹除上一次 commit 與所有變更 (危險！)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Commit 補救與 Stash 暫存技巧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commit --amend`：補救最後一次提交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如果剛 commit 完發現訊息寫錯，或少 add 了一個檔案，可重新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add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後輸入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commit --amend --no-edit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合併入上一次提交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`git stash`：臨時儲存工作進度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當你手頭功能寫到一半，突然要切去別的分支修正緊急錯誤時：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輸入 </a:t>
            </a:r>
            <a:r>
              <a:rPr sz="1600" b="1">
                <a:solidFill>
                  <a:srgbClr val="F05032"/>
                </a:solidFill>
                <a:latin typeface="Consolas"/>
              </a:rPr>
              <a:t>git stash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暫存目前修改，讓工作目錄回到乾淨狀態</a:t>
            </a:r>
          </a:p>
          <a:p>
            <a:pPr lvl="2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修完錯誤後，切回原分支輸入 </a:t>
            </a:r>
            <a:r>
              <a:rPr sz="1600" b="1">
                <a:solidFill>
                  <a:srgbClr val="F05032"/>
                </a:solidFill>
                <a:latin typeface="Consolas"/>
              </a:rPr>
              <a:t>git stash pop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還原進度繼續寫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50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1F2328"/>
                </a:solidFill>
                <a:latin typeface="Microsoft JhengHei"/>
              </a:defRPr>
            </a:pPr>
            <a:r>
              <a:t>單元二：Git 分支與平行宇宙開發</a:t>
            </a:r>
          </a:p>
          <a:p>
            <a:pPr algn="ctr">
              <a:defRPr sz="2000">
                <a:solidFill>
                  <a:srgbClr val="57606A"/>
                </a:solidFill>
                <a:latin typeface="Microsoft JhengHei"/>
              </a:defRPr>
            </a:pPr>
            <a:r>
              <a:t>—— Git 精選教學單元 ——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平行宇宙：Branch, Switch &amp; 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分支 (Branch) 讓開發者可以在獨立的平行宇宙中實驗，不影響主線 </a:t>
            </a:r>
            <a:r>
              <a:rPr sz="1800" b="1">
                <a:solidFill>
                  <a:srgbClr val="F05032"/>
                </a:solidFill>
                <a:latin typeface="Consolas"/>
              </a:rPr>
              <a:t>main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分支常用指令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branch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列出目前本地的所有分支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branch &lt;新分支名&gt;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建立新分支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switch &lt;分支名&gt;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(舊版為 </a:t>
            </a:r>
            <a:r>
              <a:rPr sz="1600" b="1">
                <a:solidFill>
                  <a:srgbClr val="F05032"/>
                </a:solidFill>
                <a:latin typeface="Consolas"/>
              </a:rPr>
              <a:t>checkout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): 切換至指定分支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switch -c &lt;新分支名&gt;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建立分支並直接切換過去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merge &lt;分支名&gt;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將指定分支合併回目前分支</a:t>
            </a:r>
          </a:p>
        </p:txBody>
      </p:sp>
      <p:pic>
        <p:nvPicPr>
          <p:cNvPr id="6" name="Picture 5" descr="git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手動解決合併衝突 (Merge Conflict)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衝突產生的原因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：當兩個分支修改了同一個檔案的同一個區域，Git 合併時不知道聽誰的，就會停下來請你手動排除。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衝突檔案標記格式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&lt;&lt;&lt;&lt;&lt;&lt;&lt; HEAD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(你目前分支的內容)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=======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(分隔線)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F05032"/>
                </a:solidFill>
                <a:latin typeface="Consolas"/>
              </a:rPr>
              <a:t>&gt;&gt;&gt;&gt;&gt;&gt;&gt; feature-branch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(要合併進來的內容)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排除步驟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1. 開啟衝突檔案，手動刪除衝突標記並決定要保留哪些程式碼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2.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add &lt;檔名&gt;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代表衝突已解決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3. 輸入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commit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完成合併提交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分支策略：Git Flow vs GitHub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5032"/>
                </a:solidFill>
                <a:latin typeface="Microsoft JhengHei"/>
              </a:defRPr>
            </a:pPr>
            <a:r>
              <a:t>Git Flow (嚴謹、固定發布)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主分支為 </a:t>
            </a:r>
            <a:r>
              <a:rPr sz="1600" b="1">
                <a:solidFill>
                  <a:srgbClr val="F05032"/>
                </a:solidFill>
                <a:latin typeface="Consolas"/>
              </a:rPr>
              <a:t>main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(正式版) 與 </a:t>
            </a:r>
            <a:r>
              <a:rPr sz="1600" b="1">
                <a:solidFill>
                  <a:srgbClr val="F05032"/>
                </a:solidFill>
                <a:latin typeface="Consolas"/>
              </a:rPr>
              <a:t>develop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(開發版)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開發功能時從 </a:t>
            </a:r>
            <a:r>
              <a:rPr sz="1600" b="1">
                <a:solidFill>
                  <a:srgbClr val="F05032"/>
                </a:solidFill>
                <a:latin typeface="Consolas"/>
              </a:rPr>
              <a:t>develop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分出 </a:t>
            </a:r>
            <a:r>
              <a:rPr sz="1600" b="1">
                <a:solidFill>
                  <a:srgbClr val="F05032"/>
                </a:solidFill>
                <a:latin typeface="Consolas"/>
              </a:rPr>
              <a:t>feature/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分支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準備發行時使用 </a:t>
            </a:r>
            <a:r>
              <a:rPr sz="1600" b="1">
                <a:solidFill>
                  <a:srgbClr val="F05032"/>
                </a:solidFill>
                <a:latin typeface="Consolas"/>
              </a:rPr>
              <a:t>release/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，修 bug 使用 </a:t>
            </a:r>
            <a:r>
              <a:rPr sz="1600" b="1">
                <a:solidFill>
                  <a:srgbClr val="F05032"/>
                </a:solidFill>
                <a:latin typeface="Consolas"/>
              </a:rPr>
              <a:t>hotfix/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結構清晰但流程繁雜，適合大型專案與有固定產品發行週期的團隊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7606A"/>
                </a:solidFill>
                <a:latin typeface="Microsoft JhengHei"/>
              </a:defRPr>
            </a:pPr>
            <a:r>
              <a:t>GitHub Flow (輕量、持續部署)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只有一條主要分支 </a:t>
            </a:r>
            <a:r>
              <a:rPr sz="1600" b="1">
                <a:solidFill>
                  <a:srgbClr val="F05032"/>
                </a:solidFill>
                <a:latin typeface="Consolas"/>
              </a:rPr>
              <a:t>main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，且隨時保持可部署狀態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要開發功能時直接從 </a:t>
            </a:r>
            <a:r>
              <a:rPr sz="1600" b="1">
                <a:solidFill>
                  <a:srgbClr val="F05032"/>
                </a:solidFill>
                <a:latin typeface="Consolas"/>
              </a:rPr>
              <a:t>main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分出 </a:t>
            </a:r>
            <a:r>
              <a:rPr sz="1600" b="1">
                <a:solidFill>
                  <a:srgbClr val="F05032"/>
                </a:solidFill>
                <a:latin typeface="Consolas"/>
              </a:rPr>
              <a:t>feature-xxx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分支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開發完成推送至雲端，發起 Pull Request (PR) 進行代碼審查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>
                <a:solidFill>
                  <a:srgbClr val="1F2328"/>
                </a:solidFill>
                <a:latin typeface="Microsoft JhengHei"/>
              </a:rPr>
              <a:t>審查通過直接合併回 </a:t>
            </a:r>
            <a:r>
              <a:rPr sz="1600" b="1">
                <a:solidFill>
                  <a:srgbClr val="F05032"/>
                </a:solidFill>
                <a:latin typeface="Consolas"/>
              </a:rPr>
              <a:t>main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 並自動部署，流程極簡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50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1F2328"/>
                </a:solidFill>
                <a:latin typeface="Microsoft JhengHei"/>
              </a:defRPr>
            </a:pPr>
            <a:r>
              <a:t>單元三：GitHub 雲端代管與團隊協作</a:t>
            </a:r>
          </a:p>
          <a:p>
            <a:pPr algn="ctr">
              <a:defRPr sz="2000">
                <a:solidFill>
                  <a:srgbClr val="57606A"/>
                </a:solidFill>
                <a:latin typeface="Microsoft JhengHei"/>
              </a:defRPr>
            </a:pPr>
            <a:r>
              <a:t>—— Git 精選教學單元 ——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與 GitHub 連線：Push &amp; Pull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937760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將本地代碼上傳雲端，或從雲端下載專案：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常用指令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remote add origin &lt;GitHub網址&gt;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將本地儲存庫關聯至遠端倉庫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push -u origin main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首次推送 main 分支並設定 upstream，之後只需打 </a:t>
            </a:r>
            <a:r>
              <a:rPr sz="1600" b="1">
                <a:solidFill>
                  <a:srgbClr val="F05032"/>
                </a:solidFill>
                <a:latin typeface="Consolas"/>
              </a:rPr>
              <a:t>git push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clone &lt;網址&gt;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下載並複製 GitHub 上的專案到本地電腦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600" b="1">
                <a:solidFill>
                  <a:srgbClr val="F05032"/>
                </a:solidFill>
                <a:latin typeface="Consolas"/>
              </a:rPr>
              <a:t>git pull</a:t>
            </a:r>
            <a:r>
              <a:rPr sz="1600">
                <a:solidFill>
                  <a:srgbClr val="1F2328"/>
                </a:solidFill>
                <a:latin typeface="Microsoft JhengHei"/>
              </a:rPr>
              <a:t>: 從遠端更新最新提交並自動合併到本地</a:t>
            </a:r>
          </a:p>
        </p:txBody>
      </p:sp>
      <p:pic>
        <p:nvPicPr>
          <p:cNvPr id="6" name="Picture 5" descr="github_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84832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安全連線設定：SSH 與 PAT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GitHub 已停用傳統密碼推送，目前必須使用以下兩種安全方式驗證：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1. SSH 金鑰連線 (免密碼，最推薦)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在本地終端機執行 </a:t>
            </a:r>
            <a:r>
              <a:rPr sz="1800" b="1">
                <a:solidFill>
                  <a:srgbClr val="F05032"/>
                </a:solidFill>
                <a:latin typeface="Consolas"/>
              </a:rPr>
              <a:t>ssh-keygen -t ed25519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產生公私鑰對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將公鑰 (</a:t>
            </a:r>
            <a:r>
              <a:rPr sz="1800" b="1">
                <a:solidFill>
                  <a:srgbClr val="F05032"/>
                </a:solidFill>
                <a:latin typeface="Consolas"/>
              </a:rPr>
              <a:t>.pub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檔內容) 貼到 GitHub Settings ➡ SSH Keys 中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驗證成功後，即可免輸入帳密進行推送與拉取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2. Personal Access Token (PAT) 認證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在 GitHub Developer Settings 產生一串 Token 代替密碼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可設定存取權限範圍與到期日，安全性高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Pull Request (PR) 與程式碼審查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Pull Request (PR)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 是 GitHub 團隊協作的最核心功能：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當你修改完程式碼並 push 自己的分支後，在 GitHub 網頁發起 PR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PR 是一個「請求合併通知」，向團隊展示修改的檔案 diff 差異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 b="1">
                <a:solidFill>
                  <a:srgbClr val="1F2328"/>
                </a:solidFill>
                <a:latin typeface="Microsoft JhengHei"/>
              </a:rPr>
              <a:t>Code Review (程式碼審查)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團隊成員會在 PR 頁面逐行檢視代碼，並在行內留言討論與建議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審查通過後，管理員點擊 Merge，將分支合併回主線 </a:t>
            </a:r>
            <a:r>
              <a:rPr sz="1800" b="1">
                <a:solidFill>
                  <a:srgbClr val="F05032"/>
                </a:solidFill>
                <a:latin typeface="Consolas"/>
              </a:rPr>
              <a:t>main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這是確保程式碼品質與團隊知識分享的最有效流程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Fork 專案與 Sync 上游同步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參與開源專案或沒有寫入權限的 Repository 時，使用 </a:t>
            </a:r>
            <a:r>
              <a:rPr sz="2000" b="1">
                <a:solidFill>
                  <a:srgbClr val="1F2328"/>
                </a:solidFill>
                <a:latin typeface="Microsoft JhengHei"/>
              </a:rPr>
              <a:t>Fork</a:t>
            </a:r>
            <a:r>
              <a:rPr sz="2000">
                <a:solidFill>
                  <a:srgbClr val="1F2328"/>
                </a:solidFill>
                <a:latin typeface="Microsoft JhengHei"/>
              </a:rPr>
              <a:t> 流程：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Fork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：將別人的 Repository 複製一份到你個人的 GitHub 帳號下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Clone &amp; 修改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：將你個人的 Fork 複製到本地電腦修改並 commit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Sync Fork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：定期將原始作者的更新同步回你的 Fork（使用 </a:t>
            </a:r>
            <a:r>
              <a:rPr sz="1800" b="1">
                <a:solidFill>
                  <a:srgbClr val="F05032"/>
                </a:solidFill>
                <a:latin typeface="Consolas"/>
              </a:rPr>
              <a:t>git remote add upstream &lt;原網址&gt;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）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發送 PR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：修改完成後，發起 Pull Request 回原始專案，請求對方合併你的修改。這就是貢獻開源代碼的標準做法！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GitHub Actions、Pages 與 Codespaces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GitHub 提供了一整套開發者生態工具：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GitHub Pages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：完全免費！直接將你儲存庫中的靜態 HTML/CSS/JS 網站部署上線 (如個人履歷、作品集)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GitHub Actions (CI/CD)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：自動化工作流，在每次 push 時自動執行測試、編譯，或將網站自動部署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 b="1">
                <a:solidFill>
                  <a:srgbClr val="1F2328"/>
                </a:solidFill>
                <a:latin typeface="Microsoft JhengHei"/>
              </a:rPr>
              <a:t>GitHub Codespaces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：在雲端運行的 VS Code 開發虛擬機，就算沒有帶電腦，用 iPad 開瀏覽器也能寫程式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91440" cy="502920"/>
          </a:xfrm>
          <a:prstGeom prst="rect">
            <a:avLst/>
          </a:prstGeom>
          <a:solidFill>
            <a:srgbClr val="0366D6"/>
          </a:solidFill>
          <a:ln>
            <a:solidFill>
              <a:srgbClr val="03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366D6"/>
                </a:solidFill>
                <a:latin typeface="Microsoft JhengHei"/>
              </a:defRPr>
            </a:pPr>
            <a:r>
              <a:t>Git 實作挑戰：開始第一步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4392" cy="420624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Git 最好的學習方式是「實作」。今天請完成以下挑戰：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1. </a:t>
            </a:r>
            <a:r>
              <a:rPr sz="1800" b="1">
                <a:solidFill>
                  <a:srgbClr val="1F2328"/>
                </a:solidFill>
                <a:latin typeface="Microsoft JhengHei"/>
              </a:rPr>
              <a:t>註冊 GitHub 帳號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並啟用雙因素驗證 (2FA)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2. </a:t>
            </a:r>
            <a:r>
              <a:rPr sz="1800" b="1">
                <a:solidFill>
                  <a:srgbClr val="1F2328"/>
                </a:solidFill>
                <a:latin typeface="Microsoft JhengHei"/>
              </a:rPr>
              <a:t>建立特殊同名儲存庫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：新建 </a:t>
            </a:r>
            <a:r>
              <a:rPr sz="1800" b="1">
                <a:solidFill>
                  <a:srgbClr val="F05032"/>
                </a:solidFill>
                <a:latin typeface="Consolas"/>
              </a:rPr>
              <a:t>你的帳號/你的帳號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儲存庫，填寫 </a:t>
            </a:r>
            <a:r>
              <a:rPr sz="1800" b="1">
                <a:solidFill>
                  <a:srgbClr val="F05032"/>
                </a:solidFill>
                <a:latin typeface="Consolas"/>
              </a:rPr>
              <a:t>README.md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，這會變成你的 GitHub 個人主頁！</a:t>
            </a:r>
          </a:p>
          <a:p>
            <a:pPr lvl="1"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1800">
                <a:solidFill>
                  <a:srgbClr val="1F2328"/>
                </a:solidFill>
                <a:latin typeface="Microsoft JhengHei"/>
              </a:rPr>
              <a:t>3. </a:t>
            </a:r>
            <a:r>
              <a:rPr sz="1800" b="1">
                <a:solidFill>
                  <a:srgbClr val="1F2328"/>
                </a:solidFill>
                <a:latin typeface="Microsoft JhengHei"/>
              </a:rPr>
              <a:t>建立一個測試專案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，練習 </a:t>
            </a:r>
            <a:r>
              <a:rPr sz="1800" b="1">
                <a:solidFill>
                  <a:srgbClr val="F05032"/>
                </a:solidFill>
                <a:latin typeface="Consolas"/>
              </a:rPr>
              <a:t>add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➡ </a:t>
            </a:r>
            <a:r>
              <a:rPr sz="1800" b="1">
                <a:solidFill>
                  <a:srgbClr val="F05032"/>
                </a:solidFill>
                <a:latin typeface="Consolas"/>
              </a:rPr>
              <a:t>commit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➡ </a:t>
            </a:r>
            <a:r>
              <a:rPr sz="1800" b="1">
                <a:solidFill>
                  <a:srgbClr val="F05032"/>
                </a:solidFill>
                <a:latin typeface="Consolas"/>
              </a:rPr>
              <a:t>push</a:t>
            </a:r>
            <a:r>
              <a:rPr sz="1800">
                <a:solidFill>
                  <a:srgbClr val="1F2328"/>
                </a:solidFill>
                <a:latin typeface="Microsoft JhengHei"/>
              </a:rPr>
              <a:t> 的完整流程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>
                <a:latin typeface="Microsoft JhengHei"/>
              </a:defRPr>
            </a:pPr>
            <a:r>
              <a:rPr sz="2000">
                <a:solidFill>
                  <a:srgbClr val="1F2328"/>
                </a:solidFill>
                <a:latin typeface="Microsoft JhengHei"/>
              </a:rPr>
              <a:t>Git 幾乎可以救回任何已提交的檔案，不要害怕輸入指令，開始動手吧！🎉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