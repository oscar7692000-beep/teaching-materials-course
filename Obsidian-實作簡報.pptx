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800" b="1">
                <a:solidFill>
                  <a:srgbClr val="673AB7"/>
                </a:solidFill>
                <a:latin typeface="Microsoft JhengHei"/>
              </a:defRPr>
            </a:pPr>
            <a:r>
              <a:t>Obsidian 知識管理與實作指南</a:t>
            </a:r>
          </a:p>
          <a:p>
            <a:pPr algn="ctr">
              <a:spcAft>
                <a:spcPts val="1000"/>
              </a:spcAft>
              <a:defRPr sz="2200">
                <a:solidFill>
                  <a:srgbClr val="1B1B1F"/>
                </a:solidFill>
                <a:latin typeface="Microsoft JhengHei"/>
              </a:defRPr>
            </a:pPr>
            <a:r>
              <a:t>從零安裝、雙向連結、核心外掛到 AI 第二大腦實作</a:t>
            </a:r>
          </a:p>
          <a:p>
            <a:pPr algn="ctr">
              <a:defRPr sz="1600">
                <a:solidFill>
                  <a:srgbClr val="656575"/>
                </a:solidFill>
                <a:latin typeface="Microsoft JhengHei"/>
              </a:defRPr>
            </a:pPr>
            <a:r>
              <a:t>—— Obsidian 核心實作教學簡報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26: Obsidian 是什麼？開啟首頁認識它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Obsidian：你的第二大腦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Obsidian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是一款免費的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筆記軟體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，但它不像 Word 或記事本 —— 它透過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雙向連結（wikilink）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把筆記串聯起來，形成一個知識網路，就像你自己的 Wikipedia！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開啟瀏覽器，輸入 </a:t>
            </a:r>
            <a:r>
              <a:rPr sz="1200" b="1">
                <a:solidFill>
                  <a:srgbClr val="673AB7"/>
                </a:solidFill>
                <a:latin typeface="Consolas"/>
              </a:rPr>
              <a:t>https://obsidian.md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觀察首頁的幾個重點：</a:t>
            </a:r>
          </a:p>
        </p:txBody>
      </p:sp>
      <p:pic>
        <p:nvPicPr>
          <p:cNvPr id="5" name="Picture 4" descr="11-obsidian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26: Obsidian 是什麼？開啟首頁認識它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「Your second brain」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—— 你的第二大腦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產品特色說明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Download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按鈕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下方有各種使用案例展示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往下滾動看看功能特色：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Graph View（圖譜檢視）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Canvas（畫布）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社群外掛生態系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看看頁面頂端的導覽列：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Home / Download / Help / Forum / Blog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26: Obsidian 是什麼？開啟首頁認識它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Obsidian 的哲學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：你的筆記存在你的電腦裡（本地檔案），不會被鎖在任何雲端服務中。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你的資料，完全屬於你。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27: 下載與安裝 Obsidian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免費又強大的筆記工具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Obsidian 支援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Windows / macOS / Linux / iOS / Android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，而且基本功能完全免費！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開啟 </a:t>
            </a:r>
            <a:r>
              <a:rPr sz="1200" b="1">
                <a:solidFill>
                  <a:srgbClr val="673AB7"/>
                </a:solidFill>
                <a:latin typeface="Consolas"/>
              </a:rPr>
              <a:t>https://obsidian.md/download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觀察下載頁面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3. 選擇你的作業系統版本：</a:t>
            </a:r>
          </a:p>
        </p:txBody>
      </p:sp>
      <p:pic>
        <p:nvPicPr>
          <p:cNvPr id="5" name="Picture 4" descr="12-obsidian-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27: 下載與安裝 Obsidian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Windows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：按 Windows 圖示，下載 </a:t>
            </a:r>
            <a:r>
              <a:rPr sz="1400" b="1">
                <a:solidFill>
                  <a:srgbClr val="673AB7"/>
                </a:solidFill>
                <a:latin typeface="Consolas"/>
              </a:rPr>
              <a:t>.exe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安裝檔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macOS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：按 macOS 圖示，下載 </a:t>
            </a:r>
            <a:r>
              <a:rPr sz="1400" b="1">
                <a:solidFill>
                  <a:srgbClr val="673AB7"/>
                </a:solidFill>
                <a:latin typeface="Consolas"/>
              </a:rPr>
              <a:t>.dmg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Linux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：支援 AppImage / Snap / Flatpak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下載完成後雙擊安裝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5. Windows 使用者：照著安裝精靈下一步即可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6. 安裝完成後，桌面會出現 Obsidian 圖示 🪨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：Obsidian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不會自動幫你註冊帳號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，也不強制登入。這是刻意的設計 —— 你的筆記只存在你的電腦裡。同步功能（Obsidian Sync）則是可選的付費服務。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28: 第一次開啟：建立 Vault（儲存庫）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Vault 是什麼？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在 Obsidian 中，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Vault（倉庫）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就是一個存放筆記的資料夾。一個 Vault 就是一個專案。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開啟 Obsidian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第一次開啟會看到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Create new vault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畫面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有兩個選項：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Create new vault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：建立新的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Open folder as vault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：開啟已有的資料夾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選擇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Create new vault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輸入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Vault name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我的學習筆記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28: 第一次開啟：建立 Vault（儲存庫）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6.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Location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：選擇一個你記得的位置（例如 </a:t>
            </a:r>
            <a:r>
              <a:rPr sz="1400" b="1">
                <a:solidFill>
                  <a:srgbClr val="673AB7"/>
                </a:solidFill>
                <a:latin typeface="Consolas"/>
              </a:rPr>
              <a:t>C:\Users\你的名字\Documents\Obsidian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或桌面）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7. 按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Create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8. 進入 Obsidian 主介面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9. 你會看到預設的 </a:t>
            </a:r>
            <a:r>
              <a:rPr sz="1400" b="1">
                <a:solidFill>
                  <a:srgbClr val="673AB7"/>
                </a:solidFill>
                <a:latin typeface="Consolas"/>
              </a:rPr>
              <a:t>Welcome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提示：第一次開啟時，Obsidian 可能會問你要不要開啟「幫助」筆記 —— 建議開啟，裡面有很棒的教學！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Vault 實際上就是一個資料夾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。打開檔案總管到你設定的路徑，會看到所有的 </a:t>
            </a:r>
            <a:r>
              <a:rPr sz="1300" b="1">
                <a:solidFill>
                  <a:srgbClr val="673AB7"/>
                </a:solidFill>
                <a:latin typeface="Consolas"/>
              </a:rPr>
              <a:t>.md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檔案。你可以用任何編輯器打開它們！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29: 認識 Obsidian 主介面（左右側欄、編輯區）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Obsidian 的三區塊設計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的介面主要分為三個區塊，就像一個「ㄇ」字型。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認識每個區塊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┌─────────────┬──────────────────┬─────────────┐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左側欄     │                  │   右側欄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         │    編輯區         │        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檔案列表     │  (主要工作區)     │ 反向連結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搜尋         │                  │ 大綱    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書籤         │                  │ 圖譜    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         │                  │             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└─────────────┴──────────────────┴─────────────┘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29: 認識 Obsidian 主介面（左右側欄、編輯區）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觀察左側欄：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檔案列表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（文件圖示）：顯示 Vault 內的所有筆記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搜尋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（放大鏡）：搜尋筆記內容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書籤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（星號）：儲存常用筆記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觀察中間編輯區：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目前顯示 Welcome 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上方有筆記名稱標籤（tab）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觀察右側欄：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反向連結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（Backlinks）：顯示哪些筆記連結到這一篇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大綱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（Outline）：依標題顯示文章結構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29: 認識 Obsidian 主介面（左右側欄、編輯區）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試著拖曳左右側欄的邊界，調整寬度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提示：左右側欄都可以按 Ctrl（或 Cmd）來快速開關！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快速鍵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673AB7"/>
                </a:solidFill>
                <a:latin typeface="Consolas"/>
              </a:rPr>
              <a:t>Ctrl + \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：切換左側欄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673AB7"/>
                </a:solidFill>
                <a:latin typeface="Consolas"/>
              </a:rPr>
              <a:t>Ctrl + 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：切換右側欄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30: 切換成繁體中文介面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用你最熟悉的語言操作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支援 20 多種語言，包含繁體中文！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按左下角的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齒輪 ⚙️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（Settings）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在左側選單找到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About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找到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Language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選項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點選下拉選單，選擇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繁體中文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Obsidian 會自動切換，不用重開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觀察介面變化：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左側欄變成「檔案列表」、「搜尋」等中文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設定選單變成中文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30: 切換成繁體中文介面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右鍵選單也變成中文了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7. 如果你喜歡英文介面，也可以保留英文 —— 兩者都可以！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提示：繁體中文的翻譯品質非常好，社群貢獻者持續維護中！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語言只是輔助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：即使使用中文介面，建議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筆記內容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使用中文或英文都可以 —— 重要的是內容，不是語言！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31: 建立你的第一篇筆記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開始記錄你的想法！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的筆記就是 </a:t>
            </a:r>
            <a:r>
              <a:rPr sz="1300" b="1">
                <a:solidFill>
                  <a:srgbClr val="673AB7"/>
                </a:solidFill>
                <a:latin typeface="Consolas"/>
              </a:rPr>
              <a:t>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檔案（Markdown），每一個檔案就是一張筆記。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（或點左側欄的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新增筆記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按鈕）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輸入筆記名稱：</a:t>
            </a:r>
            <a:r>
              <a:rPr sz="1300" b="1">
                <a:solidFill>
                  <a:srgbClr val="673AB7"/>
                </a:solidFill>
                <a:latin typeface="Consolas"/>
              </a:rPr>
              <a:t>我的第一篇 Obsidian 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在編輯區輸入以下內容：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 我的第一篇筆記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這是我用 Obsidian 寫的第一篇筆記！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今天學到了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Obsidian 是一款離線優先的筆記軟體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筆記是 .md 格式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31: 建立你的第一篇筆記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Vault 是存放筆記的資料夾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我的目標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1. 學會雙向連結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2. 建立自己的知識庫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3. 用 Obsidian 整理學習筆記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按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儲存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觀察左側欄：檔案列表出現了你的筆記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點一下「我的第一篇 Obsidian 筆記」標籤，按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Ctrl + 滾輪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可以放大縮小字型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提示：Obsidian 會在輸入時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即時儲存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，但你還是可以養成按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的習慣！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命名規則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：檔名盡量簡短有意義。Obsidian 支援中文檔名，但過長的檔名在搜尋時較不方便。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32: 認識 Markdown：標題、粗體、列表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Markdown = 用符號排版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你不需要用滑鼠點工具列來設定字型 —— 只要輸入簡單符號，Obsidian 就會自動幫你排版。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語法練習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建立一個新的筆記 </a:t>
            </a:r>
            <a:r>
              <a:rPr sz="1300" b="1">
                <a:solidFill>
                  <a:srgbClr val="673AB7"/>
                </a:solidFill>
                <a:latin typeface="Consolas"/>
              </a:rPr>
              <a:t>Markdown 練習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，輸入以下內容：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 這是一級標題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這是二級標題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### 這是三級標題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#### 這是四級標題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**這是粗體**（前後各兩個星號）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*這是斜體*（前後各一個星號）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***這是粗斜體***（三個星號）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32: 認識 Markdown：標題、粗體、列表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~~這是刪除線~~（前後各兩個波浪號）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無序列表（項目符號）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第一項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第二項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子項目（按 Tab 縮排）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另一個子項目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第三項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有序列表（編號）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1. 第一步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2. 第二步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3. 第三步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32: 認識 Markdown：標題、粗體、列表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建立新筆記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輸入上面的每一個語法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觀察 Obsidian 如何即時渲染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試試切換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編輯模式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與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閱讀模式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（右上角書本圖示）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提示：按 </a:t>
            </a:r>
            <a:r>
              <a:rPr sz="1400" b="1">
                <a:solidFill>
                  <a:srgbClr val="673AB7"/>
                </a:solidFill>
                <a:latin typeface="Consolas"/>
              </a:rPr>
              <a:t>Ctrl + E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可以在編輯模式與閱讀模式之間切換！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重要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：星號 </a:t>
            </a:r>
            <a:r>
              <a:rPr sz="1300" b="1">
                <a:solidFill>
                  <a:srgbClr val="673AB7"/>
                </a:solidFill>
                <a:latin typeface="Consolas"/>
              </a:rPr>
              <a:t>*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和底線 </a:t>
            </a:r>
            <a:r>
              <a:rPr sz="1300" b="1">
                <a:solidFill>
                  <a:srgbClr val="673AB7"/>
                </a:solidFill>
                <a:latin typeface="Consolas"/>
              </a:rPr>
              <a:t>_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都可以用來表示粗體或斜體，但建議統一使用 </a:t>
            </a:r>
            <a:r>
              <a:rPr sz="1300" b="1">
                <a:solidFill>
                  <a:srgbClr val="673AB7"/>
                </a:solidFill>
                <a:latin typeface="Consolas"/>
              </a:rPr>
              <a:t>*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避免混淆。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33: 認識 Markdown：連結、圖片、程式碼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用 Markdown 插入更多元素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除了文字格式，Markdown 也能輕鬆加入連結、圖片和程式碼區塊。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語法練習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繼續在 </a:t>
            </a:r>
            <a:r>
              <a:rPr sz="1200" b="1">
                <a:solidFill>
                  <a:srgbClr val="673AB7"/>
                </a:solidFill>
                <a:latin typeface="Consolas"/>
              </a:rPr>
              <a:t>Markdown 練習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筆記中加入：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000" b="1">
                <a:solidFill>
                  <a:srgbClr val="673AB7"/>
                </a:solidFill>
                <a:latin typeface="Consolas"/>
              </a:rPr>
              <a:t>## 超連結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000" b="1">
                <a:solidFill>
                  <a:srgbClr val="673AB7"/>
                </a:solidFill>
                <a:latin typeface="Consolas"/>
              </a:rPr>
              <a:t>[點我到 Google](https://www.google.com)</a:t>
            </a:r>
          </a:p>
        </p:txBody>
      </p:sp>
      <p:pic>
        <p:nvPicPr>
          <p:cNvPr id="5" name="Picture 4" descr="14-obsidian-mar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33: 認識 Markdown：連結、圖片、程式碼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[GitHub 首頁](https://github.com)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插入圖片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![可愛貓咪](https://placekitten.com/400/300)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（如果圖片在電腦本地：![說明](路徑/圖片.png)）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行內程式碼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使用 </a:t>
            </a:r>
            <a:r>
              <a:rPr sz="1100">
                <a:solidFill>
                  <a:srgbClr val="1B1B1F"/>
                </a:solidFill>
                <a:latin typeface="Microsoft JhengHei"/>
              </a:rPr>
              <a:t>git commit</a:t>
            </a:r>
            <a:r>
              <a:rPr sz="1100" b="1">
                <a:solidFill>
                  <a:srgbClr val="673AB7"/>
                </a:solidFill>
                <a:latin typeface="Consolas"/>
              </a:rPr>
              <a:t> 指令可以儲存變更。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程式碼區塊（用三個反引號）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print("Hello, World!")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for i in range(5):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>
                <a:solidFill>
                  <a:srgbClr val="1B1B1F"/>
                </a:solidFill>
                <a:latin typeface="Microsoft JhengHei"/>
              </a:rPr>
              <a:t>print(i)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引用區塊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33: 認識 Markdown：連結、圖片、程式碼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&gt; 這是一段引用文字。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&gt; 可以有多行。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&gt;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&gt; 空一行用 &gt; 表示段落。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## 分隔線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注意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：反引號 </a:t>
            </a:r>
            <a:r>
              <a:rPr sz="1300" b="1">
                <a:solidFill>
                  <a:srgbClr val="673AB7"/>
                </a:solidFill>
                <a:latin typeface="Consolas"/>
              </a:rPr>
              <a:t/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</a:t>
            </a:r>
            <a:r>
              <a:rPr sz="1300" b="1">
                <a:solidFill>
                  <a:srgbClr val="673AB7"/>
                </a:solidFill>
                <a:latin typeface="Consolas"/>
              </a:rPr>
              <a:t>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` 不是單引號！它在鍵盤左上角（數字 1 左邊的那個鍵）。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34: 雙向連結 [[wikilink]] 的核心操作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這才是 Obsidian 最強大的功能！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雙向連結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讓你可以把筆記「串」在一起。用 </a:t>
            </a:r>
            <a:r>
              <a:rPr sz="1200" b="1">
                <a:solidFill>
                  <a:srgbClr val="673AB7"/>
                </a:solidFill>
                <a:latin typeface="Consolas"/>
              </a:rPr>
              <a:t>[[ ]]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包住另一篇筆記的名稱，Obsidian 會自動建立連結。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建立三篇筆記，分別是：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200" b="1">
                <a:solidFill>
                  <a:srgbClr val="673AB7"/>
                </a:solidFill>
                <a:latin typeface="Consolas"/>
              </a:rPr>
              <a:t>JavaScript 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200" b="1">
                <a:solidFill>
                  <a:srgbClr val="673AB7"/>
                </a:solidFill>
                <a:latin typeface="Consolas"/>
              </a:rPr>
              <a:t>Python 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200" b="1">
                <a:solidFill>
                  <a:srgbClr val="673AB7"/>
                </a:solidFill>
                <a:latin typeface="Consolas"/>
              </a:rPr>
              <a:t>程式語言比較</a:t>
            </a:r>
          </a:p>
        </p:txBody>
      </p:sp>
      <p:pic>
        <p:nvPicPr>
          <p:cNvPr id="5" name="Picture 4" descr="15-obsidian-l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34: 雙向連結 [[wikilink]] 的核心操作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 </a:t>
            </a:r>
            <a:r>
              <a:rPr sz="1300" b="1">
                <a:solidFill>
                  <a:srgbClr val="673AB7"/>
                </a:solidFill>
                <a:latin typeface="Consolas"/>
              </a:rPr>
              <a:t>程式語言比較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中輸入：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 程式語言比較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前端開發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推薦使用 [[JavaScript 筆記]] 來學習網頁開發。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資料科學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推薦使用 [[Python 筆記]] 來進行數據分析。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觀察 </a:t>
            </a:r>
            <a:r>
              <a:rPr sz="1300" b="1">
                <a:solidFill>
                  <a:srgbClr val="673AB7"/>
                </a:solidFill>
                <a:latin typeface="Consolas"/>
              </a:rPr>
              <a:t>[[ ]]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中的文字變成了藍色連結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按住 `Ctrl` 再點 `[[JavaScript 筆記]]`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會跳到那篇筆記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回到 </a:t>
            </a:r>
            <a:r>
              <a:rPr sz="1300" b="1">
                <a:solidFill>
                  <a:srgbClr val="673AB7"/>
                </a:solidFill>
                <a:latin typeface="Consolas"/>
              </a:rPr>
              <a:t>程式語言比較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，按右側欄的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反向連結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會看到 </a:t>
            </a:r>
            <a:r>
              <a:rPr sz="1300" b="1">
                <a:solidFill>
                  <a:srgbClr val="673AB7"/>
                </a:solidFill>
                <a:latin typeface="Consolas"/>
              </a:rPr>
              <a:t>JavaScript 筆記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雖然沒有直接寫連結回來，但 Obsidian 自動記錄了「有人連結到你」！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34: 雙向連結 [[wikilink]] 的核心操作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這就是雙向連結的力量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：如果未來你的筆記超過 100 篇、1000 篇，你還是可以透過連結網路找到相關知識。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就像你自己專屬的維基百科！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35: 標籤（Tags）分類筆記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用標籤幫筆記貼上分類標籤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當筆記越來越多，除了用資料夾分類，你還可以用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標籤（Tags）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來做跨資料夾的分類。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開啟第一篇筆記，在內容中加入標籤：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---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tags: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obsidian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新手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或直接在內容中輸入：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#obsidian #新手 #學習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35: 標籤（Tags）分類筆記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觀察 </a:t>
            </a:r>
            <a:r>
              <a:rPr sz="1300" b="1">
                <a:solidFill>
                  <a:srgbClr val="673AB7"/>
                </a:solidFill>
                <a:latin typeface="Consolas"/>
              </a:rPr>
              <a:t>#obsidian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變成彩色標籤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點一下標籤 → Obsidian 會搜尋所有包含這個標籤的筆記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在 </a:t>
            </a:r>
            <a:r>
              <a:rPr sz="1300" b="1">
                <a:solidFill>
                  <a:srgbClr val="673AB7"/>
                </a:solidFill>
                <a:latin typeface="Consolas"/>
              </a:rPr>
              <a:t>Python 筆記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和 </a:t>
            </a:r>
            <a:r>
              <a:rPr sz="1300" b="1">
                <a:solidFill>
                  <a:srgbClr val="673AB7"/>
                </a:solidFill>
                <a:latin typeface="Consolas"/>
              </a:rPr>
              <a:t>JavaScript 筆記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中也加入 </a:t>
            </a:r>
            <a:r>
              <a:rPr sz="1300" b="1">
                <a:solidFill>
                  <a:srgbClr val="673AB7"/>
                </a:solidFill>
                <a:latin typeface="Consolas"/>
              </a:rPr>
              <a:t>#程式語言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點 </a:t>
            </a:r>
            <a:r>
              <a:rPr sz="1300" b="1">
                <a:solidFill>
                  <a:srgbClr val="673AB7"/>
                </a:solidFill>
                <a:latin typeface="Consolas"/>
              </a:rPr>
              <a:t>#程式語言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標籤 → 會看到兩篇筆記都出現了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提示：標籤可以使用巢狀結構，例如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#程式語言/Python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、</a:t>
            </a:r>
            <a:r>
              <a:rPr sz="1300" b="1">
                <a:solidFill>
                  <a:srgbClr val="673AB7"/>
                </a:solidFill>
                <a:latin typeface="Consolas"/>
              </a:rPr>
              <a:t>#程式語言/JavaScript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。斜線代表從屬關係。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標籤 vs 連結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標籤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：像圖書館的分類系統，適合「這是哪一類」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連結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：像知識網路，適合「這跟什麼有關」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兩者搭配使用效果最好！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36: 搜尋筆記與快速切換（Ctrl+O）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一秒鐘找到任何筆記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當你有一百篇筆記時，與其用滑鼠在檔案列表慢慢翻，不如用快捷鍵搜尋。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`Ctrl + O`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（Mac 是 </a:t>
            </a:r>
            <a:r>
              <a:rPr sz="1300" b="1">
                <a:solidFill>
                  <a:srgbClr val="673AB7"/>
                </a:solidFill>
                <a:latin typeface="Consolas"/>
              </a:rPr>
              <a:t>Cmd + O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會跳出一個搜尋框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Quick Switcher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（快速切換器）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輸入筆記名稱的一部分，例如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程式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會看到包含「程式」的筆記都出現了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按上下方向鍵選擇 → Enter 開啟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試試用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`Ctrl + Shift + F`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（搜尋內容）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7. 在搜尋框輸入「推薦」→ 會搜尋所有筆記內容中包含「推薦」的結果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8. 觀察搜尋結果有預覽片段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36: 搜尋筆記與快速切換（Ctrl+O）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提示：Quick Switcher 也可以輸入 </a:t>
            </a:r>
            <a:r>
              <a:rPr sz="1400" b="1">
                <a:solidFill>
                  <a:srgbClr val="673AB7"/>
                </a:solidFill>
                <a:latin typeface="Consolas"/>
              </a:rPr>
              <a:t>#標籤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來搜尋特定標籤的筆記！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進階搜尋語法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673AB7"/>
                </a:solidFill>
                <a:latin typeface="Consolas"/>
              </a:rPr>
              <a:t>"精準片語"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：用引號搜尋完全符合的字串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673AB7"/>
                </a:solidFill>
                <a:latin typeface="Consolas"/>
              </a:rPr>
              <a:t>path:資料夾名稱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：只在特定資料夾搜尋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400" b="1">
                <a:solidFill>
                  <a:srgbClr val="673AB7"/>
                </a:solidFill>
                <a:latin typeface="Consolas"/>
              </a:rPr>
              <a:t>-排除詞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：排除包含特定詞的結果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37: 圖譜檢視（Graph View）— 視覺化知識網路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把你的筆記變成星空圖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Graph View（圖譜檢視）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是 Obsidian 最令人驚豔的功能 —— 它把所有筆記和它們之間的連結，顯示成一個動態的互動式網路圖！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按左側欄的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開啟圖譜檢視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（圓形節點圖示）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觀察畫面：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每個圓點（節點）代表一篇筆記</a:t>
            </a:r>
          </a:p>
        </p:txBody>
      </p:sp>
      <p:pic>
        <p:nvPicPr>
          <p:cNvPr id="5" name="Picture 4" descr="16-obsidian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37: 圖譜檢視（Graph View）— 視覺化知識網路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連線代表筆記之間的雙向連結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顏色區分：不同顏色的節點代表不同資料夾或標籤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互動操作：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拖曳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：移動整個圖譜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滾輪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：放大縮小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點選節點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：跳到那篇筆記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按住節點拖曳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：把它拉到方便觀察的位置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按右上角的設定圖示，試試：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Local graph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：只顯示連結到目前筆記的相關節點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調整「過濾」設定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37: 圖譜檢視（Graph View）— 視覺化知識網路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應用情境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：學期末回顧時，打開圖譜檢視，你可以一眼看出哪些主題是你的「核心知識」（連結最多的節點）。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38: 日記（Daily Notes）功能設定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每天開新頁，記錄日常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Daily Notes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讓你每天自動建立一篇以日期命名的筆記，非常適合寫日記、工作日誌、學習記錄。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按左下角 ⚙️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左側選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核心外掛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（Core plugins）</a:t>
            </a:r>
          </a:p>
        </p:txBody>
      </p:sp>
      <p:pic>
        <p:nvPicPr>
          <p:cNvPr id="5" name="Picture 4" descr="17-obsidian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38: 日記（Daily Notes）功能設定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找到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日記（Daily notes）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，開啟它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點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日記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右邊的 ⚙️ 進行設定：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日期格式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YYYY-MM-DD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2025-06-13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新筆記的存放位置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Daily Notes/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（建議建立這個資料夾）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模板檔案位置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：可選（先留空）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關掉設定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按左側欄的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開啟今天的日記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（日曆圖示）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7. 看到自動產生的今日筆記！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8. 輸入今天的學習心得：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 2025-06-13 學習記錄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今天學了什麼？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38: 日記（Daily Notes）功能設定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- GitHub 的基本操作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- Obsidian 的 [[雙向連結]]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## 明天的計畫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- 完成 Obsidian 教材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673AB7"/>
                </a:solidFill>
                <a:latin typeface="Consolas"/>
              </a:rPr>
              <a:t>- 練習 Markdown 語法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小技巧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：在日記中使用 </a:t>
            </a:r>
            <a:r>
              <a:rPr sz="1300" b="1">
                <a:solidFill>
                  <a:srgbClr val="673AB7"/>
                </a:solidFill>
                <a:latin typeface="Consolas"/>
              </a:rPr>
              <a:t>[[筆記名]]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連結到其他學習筆記，之後用圖譜檢視可以看到你的「學習足跡」！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39: 日曆（Calendar）外掛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用日曆視覺化你的每日筆記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設定好 Daily Notes 後，安裝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Calendar 外掛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可以讓你用日曆方式瀏覽和管理每日筆記。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按左下角 ⚙️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左側選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社群外掛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瀏覽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搜尋 </a:t>
            </a:r>
            <a:r>
              <a:rPr sz="1300" b="1">
                <a:solidFill>
                  <a:srgbClr val="673AB7"/>
                </a:solidFill>
                <a:latin typeface="Consolas"/>
              </a:rPr>
              <a:t>Calendar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找到後按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安裝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啟用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關掉設定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觀察右側欄出現了一個月曆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7. 操作月曆：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39: 日曆（Calendar）外掛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點選有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圓點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的日期 → 開啟那天的日記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點選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沒有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圓點的日期 → 建立那天的新日記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按月份名稱旁的箭頭 ← → 切換月份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按右鍵 → 可快速新增筆記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8. 如果今天有日記，日曆上今天的日期會有圓點標記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提示：Calendar 是 Obsidian 最受歡迎的外掛之一，安裝數超過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200 萬次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延伸應用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：你也可以用 Calendar 來規劃讀書進度 —— 在特定日期建立「考試複習計畫」筆記，並連結到相關的課程筆記。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40: Canvas 畫布 — 視覺化思考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用畫布把想法畫出來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Canvas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是 Obsidian 內建的視覺化工具。你可以把筆記、圖片、網頁等元素當作卡片放在畫布上，用線條連接它們 —— 就像心智圖或便利貼牆！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按左側欄的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新增 Canvas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（或按 </a:t>
            </a:r>
            <a:r>
              <a:rPr sz="1200" b="1">
                <a:solidFill>
                  <a:srgbClr val="673AB7"/>
                </a:solidFill>
                <a:latin typeface="Consolas"/>
              </a:rPr>
              <a:t>Ctrl + N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在選項中選擇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Canvas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觀察 Canvas 介面：</a:t>
            </a:r>
          </a:p>
        </p:txBody>
      </p:sp>
      <p:pic>
        <p:nvPicPr>
          <p:cNvPr id="5" name="Picture 4" descr="19-obsidian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40: Canvas 畫布 — 視覺化思考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背景是空白畫布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頂端有工具列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加入卡片：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按工具列的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+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Add note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輸入文字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或直接把檔案列表的筆記拖進畫布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+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Add image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加入圖片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連接卡片：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把滑鼠移到卡片邊緣 → 出現圓點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從圓點拖曳到另一張卡片 → 產生連線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調整卡片位置與大小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在畫布上規劃你的學習計畫或讀書筆記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40: Canvas 畫布 — 視覺化思考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Canvas 適合用來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規劃學期報告大綱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整理頭腦風暴的點子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製作學習路徑圖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視覺化專案流程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41: 指令面板（Ctrl+P）— 所有功能的入口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Obsidian 的「快捷鍵大全」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指令面板（Command Palette）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是所有 Obsidian 功能的搜尋引擎。不知道某個功能在哪裡？按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Ctrl+P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直接搜尋！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`Ctrl + P`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（Mac 是 </a:t>
            </a:r>
            <a:r>
              <a:rPr sz="1300" b="1">
                <a:solidFill>
                  <a:srgbClr val="673AB7"/>
                </a:solidFill>
                <a:latin typeface="Consolas"/>
              </a:rPr>
              <a:t>Cmd + 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觀察彈出的搜尋框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試著輸入關鍵字看看效果：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輸入文字 | 搜尋到的功能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|----------|-------------|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日記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開啟今日日記 / 建立新日記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圖譜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開啟圖譜檢視 |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41: 指令面板（Ctrl+P）— 所有功能的入口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重新命名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重新命名檔案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匯出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匯出為 PDF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插入模板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插入模板內容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673AB7"/>
                </a:solidFill>
                <a:latin typeface="Consolas"/>
              </a:rPr>
              <a:t>設定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開啟設定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注意指令右邊顯示的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快捷鍵提示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，例如：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= 新增筆記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= 儲存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= 切換編輯/閱讀模式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找到一個沒有快捷鍵的指令，按右邊的齒輪 ⚙️ 可以自訂快捷鍵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提示：不確定快捷鍵時，先用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Ctrl+P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搜尋功能，順便記住快捷鍵！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41: 指令面板（Ctrl+P）— 所有功能的入口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記憶重點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：指令面板 = Windows 的「開始」選單。你不需要背所有功能的位置，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只要知道怎麼搜尋就夠了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42: 分割視窗與同時編輯多個筆記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一邊查資料一邊寫筆記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支援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分割視窗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，讓你同時看到多個筆記，或同一篇筆記的不同位置。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打開任意兩篇筆記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在筆記標籤上按右鍵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向右分割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（Split right）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觀察畫面變成左右兩邊，各顯示一篇筆記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試試其他分割方式：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向右分割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：左右並排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向下分割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：上下並排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或直接拖曳標籤到邊緣放開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調整分割邊界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42: 分割視窗與同時編輯多個筆記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6. 進階技巧：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同一篇筆記分割兩次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在筆記中按 </a:t>
            </a:r>
            <a:r>
              <a:rPr sz="1400" b="1">
                <a:solidFill>
                  <a:srgbClr val="673AB7"/>
                </a:solidFill>
                <a:latin typeface="Consolas"/>
              </a:rPr>
              <a:t>Ctrl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點選 </a:t>
            </a:r>
            <a:r>
              <a:rPr sz="1400" b="1">
                <a:solidFill>
                  <a:srgbClr val="673AB7"/>
                </a:solidFill>
                <a:latin typeface="Consolas"/>
              </a:rPr>
              <a:t>[[連結]]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新分頁會自動開啟在右側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這樣你就可以一邊看原文，一邊看連結的內容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7. 按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Ctrl + W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關閉分頁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提示：你也可以把檔案列表拖曳出來變成浮動視窗！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學習技巧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：寫作業時可以把「課本筆記」放在左邊，「作業記錄」放在右邊，對照著寫！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43: 模板（Templates）功能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不用每次都從零開始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模板（Templates）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讓你預先設計好筆記的格式，每次新建類似筆記時直接套用，省時又一致。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在 Vault 中建立一個資料夾叫 </a:t>
            </a:r>
            <a:r>
              <a:rPr sz="1300" b="1">
                <a:solidFill>
                  <a:srgbClr val="673AB7"/>
                </a:solidFill>
                <a:latin typeface="Consolas"/>
              </a:rPr>
              <a:t>Templates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在這個資料夾中建立一個新筆記，取名為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上課筆記模板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輸入模板內容：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 {{title}} 上課筆記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**課程名稱**：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**日期**：{{date}}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**老師**：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今日重點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43: 模板（Templates）功能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問題與想法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## 回家作業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[ ]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- [ ]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按左下角 ⚙️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在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核心外掛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模板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設定：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模板資料夾位置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：選擇 </a:t>
            </a:r>
            <a:r>
              <a:rPr sz="1300" b="1">
                <a:solidFill>
                  <a:srgbClr val="673AB7"/>
                </a:solidFill>
                <a:latin typeface="Consolas"/>
              </a:rPr>
              <a:t>Templates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關掉設定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43: 模板（Templates）功能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7. 建立新筆記時，按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輸入「插入模板」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8. 選擇 </a:t>
            </a:r>
            <a:r>
              <a:rPr sz="1300" b="1">
                <a:solidFill>
                  <a:srgbClr val="673AB7"/>
                </a:solidFill>
                <a:latin typeface="Consolas"/>
              </a:rPr>
              <a:t>上課筆記模板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內容自動填入！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提示：模板中的 </a:t>
            </a:r>
            <a:r>
              <a:rPr sz="1300" b="1">
                <a:solidFill>
                  <a:srgbClr val="673AB7"/>
                </a:solidFill>
                <a:latin typeface="Consolas"/>
              </a:rPr>
              <a:t>{{date}}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會自動轉換成今天的日期，</a:t>
            </a:r>
            <a:r>
              <a:rPr sz="1300" b="1">
                <a:solidFill>
                  <a:srgbClr val="673AB7"/>
                </a:solidFill>
                <a:latin typeface="Consolas"/>
              </a:rPr>
              <a:t>{{title}}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會自動填入筆記名稱。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常見模板類型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上課筆記模板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讀書心得模板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專案規劃模板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會議記錄模板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日記模板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44: 安裝社群外掛（以 Calendar 為例）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擴充 Obsidian 的無限可能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Obsidian 的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社群外掛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生態系非常豐富，任何人都可以開發外掛來增加新功能。目前有超過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2000 個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外掛可以安裝！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1. 按左下角 ⚙️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2. 左側選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社群外掛（Community plugins）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3. 按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瀏覽（Browse）</a:t>
            </a:r>
          </a:p>
        </p:txBody>
      </p:sp>
      <p:pic>
        <p:nvPicPr>
          <p:cNvPr id="5" name="Picture 4" descr="18-obsidian-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44: 安裝社群外掛（以 Calendar 為例）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會進入外掛市集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搜尋欄輸入外掛名稱（例如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Calendar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每個外掛會顯示：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名稱與簡短說明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安裝數量（下載次數）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評分星星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作者名稱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7. 按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安裝（Install）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8. 安裝完成後，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還要再按一次啟用（Enable）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9. 外掛啟用後，通常會自動出現在設定左側，可以進一步設定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10. 可以重複安裝多個外掛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44: 安裝社群外掛（以 Calendar 為例）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安全提醒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：社群外掛是第三方開發的，安裝前建議看看評價和下載次數。選擇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下載次數多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、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近期有更新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的外掛比較安全。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45: 常用社群外掛推薦（Dataview / Templater / Tasks）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三大必裝外掛介紹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不是所有外掛都需要裝，但以下三個是 Obsidian 社群公認的「神級外掛」。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📦 Dataview — 把筆記變成資料庫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把 Obsidian 當作資料庫來查詢！例如列出所有「未完成作業」筆記。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TABLE 老師, 日期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FROM #上課筆記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WHERE 日期 &gt; date(2025-06-01)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SORT 日期 DESC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📦 Templater — 進階模板引擎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比內建模板更強大，支援 JavaScript 自動化。例如自動建立每日筆記時，自動帶入昨天的內容。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45: 常用社群外掛推薦（Dataview / Templater / Tasks）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📦 Tasks — 待辦事項管理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把 </a:t>
            </a:r>
            <a:r>
              <a:rPr sz="1400" b="1">
                <a:solidFill>
                  <a:srgbClr val="673AB7"/>
                </a:solidFill>
                <a:latin typeface="Consolas"/>
              </a:rPr>
              <a:t>- [ ] 買文具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變成強大的任務管理工具：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設定截止日期：</a:t>
            </a:r>
            <a:r>
              <a:rPr sz="1400" b="1">
                <a:solidFill>
                  <a:srgbClr val="673AB7"/>
                </a:solidFill>
                <a:latin typeface="Consolas"/>
              </a:rPr>
              <a:t>- [ ] 交作業 📅 2025-06-20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設定優先級：</a:t>
            </a:r>
            <a:r>
              <a:rPr sz="1400" b="1">
                <a:solidFill>
                  <a:srgbClr val="673AB7"/>
                </a:solidFill>
                <a:latin typeface="Consolas"/>
              </a:rPr>
              <a:t>- [ ] 重要報告 ⏫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Tasks 可以幫你匯總所有筆記中的待辦事項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提示：安裝順序建議：Tasks → Templater → Dataview。先從簡單的開始！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學習建議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：一次安裝一個外掛就好，先用熟再裝下一個。一次裝太多你會搞不清楚哪個功能是哪個外掛提供的。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46: Obsidian 設定導覽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認識設定的每個區域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按左下角的 ⚙️ 打開設定，分成幾個主要區域。了解每個區域的功能，可以幫你更好地客製化 Obsidian。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設定導覽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設定左側選單結構：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├── 🧰 核心外掛（Core plugins）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內建功能開關（日記、模板、Canvas等）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├── 🔌 社群外掛（Community plugins）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瀏覽、安裝、更新外掛的地方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├── ⚙️ 選項（Options）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46: Obsidian 設定導覽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├── 編輯器（字型、行號、自動配對括號等）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├── 檔案與連結（新建筆記位置、連結格式）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├── 外觀（主題、配色、CSS 片段）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├── 快捷鍵（自訂所有操作快捷鍵）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│    └── 關於（版本、語言、檢查更新）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重要設定建議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編輯器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開啟 </a:t>
            </a:r>
            <a:r>
              <a:rPr sz="1300" b="1">
                <a:solidFill>
                  <a:srgbClr val="673AB7"/>
                </a:solidFill>
                <a:latin typeface="Consolas"/>
              </a:rPr>
              <a:t>行號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、</a:t>
            </a:r>
            <a:r>
              <a:rPr sz="1300" b="1">
                <a:solidFill>
                  <a:srgbClr val="673AB7"/>
                </a:solidFill>
                <a:latin typeface="Consolas"/>
              </a:rPr>
              <a:t>自動配對符號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檔案與連結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300" b="1">
                <a:solidFill>
                  <a:srgbClr val="673AB7"/>
                </a:solidFill>
                <a:latin typeface="Consolas"/>
              </a:rPr>
              <a:t>新建筆記的存放位置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：設為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Inbox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（建立一個 Inbox 資料夾放新筆記）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外觀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試試不同的主題（Theme）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關於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確認 Obsidian 是最新版本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46: Obsidian 設定導覽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提示：不要急著把所有設定都調一遍。先使用預設設定，遇到不順手的地方再來調整！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CSS 片段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：在「外觀」中你可以載入自訂的 CSS 檔案來改變 Obsidian 的外觀，就像手機的主題一樣！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47: 備份你的 Obsidian 筆記（使用 Git）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你的筆記很珍貴，記得備份！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因為 Obsidian 筆記就是純文字 </a:t>
            </a:r>
            <a:r>
              <a:rPr sz="1300" b="1">
                <a:solidFill>
                  <a:srgbClr val="673AB7"/>
                </a:solidFill>
                <a:latin typeface="Consolas"/>
              </a:rPr>
              <a:t>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檔案，你可以用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Git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來做版本控制和備份 —— 就像管理程式碼一樣！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先確認電腦有安裝 Git（沒有可到 </a:t>
            </a:r>
            <a:r>
              <a:rPr sz="1300" b="1">
                <a:solidFill>
                  <a:srgbClr val="673AB7"/>
                </a:solidFill>
                <a:latin typeface="Consolas"/>
              </a:rPr>
              <a:t>git-scm.com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下載）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 GitHub 上建立一個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私人儲存庫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（Private），例如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my-obsidian-vault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打開終端機（cmd 或 PowerShell）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移動到你的 Vault 資料夾：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cd C:\Users\你的名字\Documents\Obsidian\我的學習筆記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初始化 Git 並連接 GitHub：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47: 備份你的 Obsidian 筆記（使用 Git）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init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add .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commit -m "第一次備份 Obsidian 筆記"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remote add origin https://github.com/你的帳號/my-obsidian-vault.git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push -u origin main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6. 完成！之後每次想備份就執行：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add .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commit -m "更新筆記 YYYY-MM-DD"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git push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提示：社群有「Obsidian Git」外掛，可以設定自動備份，不用手動打指令！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47: 備份你的 Obsidian 筆記（使用 Git）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重要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：不要公開（Public）你的筆記！私人儲存庫只有你能看到，請選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Private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48: Obsidian 與 AI 整合（Copilot / Claude Code）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讓 AI 幫你整理筆記與生成內容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社群有許多 AI 相關外掛，讓你在筆記中直接使用 AI 功能。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🤖 推薦的 AI 整合方式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### 1. Copilot 外掛（最推薦）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搜尋安裝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Copilot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需要 OpenAI API Key（或 Azure OpenAI）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功能：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>
                <a:solidFill>
                  <a:srgbClr val="1B1B1F"/>
                </a:solidFill>
                <a:latin typeface="Microsoft JhengHei"/>
              </a:rPr>
              <a:t>- 🤖 </a:t>
            </a:r>
            <a:r>
              <a:rPr sz="1100" b="1">
                <a:solidFill>
                  <a:srgbClr val="1B1B1F"/>
                </a:solidFill>
                <a:latin typeface="Microsoft JhengHei"/>
              </a:rPr>
              <a:t>聊天</a:t>
            </a:r>
            <a:r>
              <a:rPr sz="1100">
                <a:solidFill>
                  <a:srgbClr val="1B1B1F"/>
                </a:solidFill>
                <a:latin typeface="Microsoft JhengHei"/>
              </a:rPr>
              <a:t>：在 Obsidian 中跟 AI 對話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>
                <a:solidFill>
                  <a:srgbClr val="1B1B1F"/>
                </a:solidFill>
                <a:latin typeface="Microsoft JhengHei"/>
              </a:rPr>
              <a:t>- 📝 </a:t>
            </a:r>
            <a:r>
              <a:rPr sz="1100" b="1">
                <a:solidFill>
                  <a:srgbClr val="1B1B1F"/>
                </a:solidFill>
                <a:latin typeface="Microsoft JhengHei"/>
              </a:rPr>
              <a:t>自動完成</a:t>
            </a:r>
            <a:r>
              <a:rPr sz="1100">
                <a:solidFill>
                  <a:srgbClr val="1B1B1F"/>
                </a:solidFill>
                <a:latin typeface="Microsoft JhengHei"/>
              </a:rPr>
              <a:t>：AI 幫你繼續寫筆記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>
                <a:solidFill>
                  <a:srgbClr val="1B1B1F"/>
                </a:solidFill>
                <a:latin typeface="Microsoft JhengHei"/>
              </a:rPr>
              <a:t>- 🔍 </a:t>
            </a:r>
            <a:r>
              <a:rPr sz="1100" b="1">
                <a:solidFill>
                  <a:srgbClr val="1B1B1F"/>
                </a:solidFill>
                <a:latin typeface="Microsoft JhengHei"/>
              </a:rPr>
              <a:t>智慧搜尋</a:t>
            </a:r>
            <a:r>
              <a:rPr sz="1100">
                <a:solidFill>
                  <a:srgbClr val="1B1B1F"/>
                </a:solidFill>
                <a:latin typeface="Microsoft JhengHei"/>
              </a:rPr>
              <a:t>：用自然語言問筆記內容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>
                <a:solidFill>
                  <a:srgbClr val="1B1B1F"/>
                </a:solidFill>
                <a:latin typeface="Microsoft JhengHei"/>
              </a:rPr>
              <a:t>- 📄 </a:t>
            </a:r>
            <a:r>
              <a:rPr sz="1100" b="1">
                <a:solidFill>
                  <a:srgbClr val="1B1B1F"/>
                </a:solidFill>
                <a:latin typeface="Microsoft JhengHei"/>
              </a:rPr>
              <a:t>摘要</a:t>
            </a:r>
            <a:r>
              <a:rPr sz="1100">
                <a:solidFill>
                  <a:srgbClr val="1B1B1F"/>
                </a:solidFill>
                <a:latin typeface="Microsoft JhengHei"/>
              </a:rPr>
              <a:t>：幫你的筆記產生摘要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48: Obsidian 與 AI 整合（Copilot / Claude Code）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### 2. Smart Connections 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用 AI 自動分析你的筆記內容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自動推薦相關筆記（比單純用關鍵字更精準）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### 3. Text Generator 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用 AI 模板自動產生筆記內容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例如輸入 </a:t>
            </a:r>
            <a:r>
              <a:rPr sz="1400" b="1">
                <a:solidFill>
                  <a:srgbClr val="673AB7"/>
                </a:solidFill>
                <a:latin typeface="Consolas"/>
              </a:rPr>
              <a:t>/gen 這段筆記的重點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→ AI 自動產生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提示：AI 功能通常需要 API Key（付費），但用量不大的話費用很低（每個月可能不到 $1 美金）。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沒有 API Key 怎麼辦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？也可以使用 Obsidian 的 Copilot 外掛搭配 Azure OpenAI 或本地 LLM（需要較高效能的電腦）。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49: 第二大腦觀念：Zettelkasten / PARA 簡介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Obsidian 背後的知識管理哲學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不只是一個工具，它背後有深刻的知識管理理念。了解這些概念，能讓你更有效地使用它。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🧠 Zettelkasten（卡片盒筆記法）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德國社會學家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Niklas Luhmann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發明的方法，他靠這個方法寫了 70 本書、500 篇論文！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核心原則：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原則 | 說明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原子化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一張卡片只記一個概念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連結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每張卡片都要連結到其他卡片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用自己的話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不是抄襲，是重新理解後寫下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不限數量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| 連結越多，知識網路越強 |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49: 第二大腦觀念：Zettelkasten / PARA 簡介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📂 PARA 方法（Tiago Forte）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適合用來整理專案與學習：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rojects：正在進行的專案（期限明確）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reas：長期關注的領域（沒有截止日）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esources：有興趣的主題資料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rchives：已完成或不再使用的內容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提示：不必強迫自己一定要用哪個方法。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先開始寫筆記，找到適合自己的方式最重要！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給學生的建議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用 Zettelkasten 整理學科筆記（每個觀念一張卡片）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用 PARA 整理社團活動、專題作業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49: 第二大腦觀念：Zettelkasten / PARA 簡介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把它們都用 </a:t>
            </a:r>
            <a:r>
              <a:rPr sz="1400" b="1">
                <a:solidFill>
                  <a:srgbClr val="673AB7"/>
                </a:solidFill>
                <a:latin typeface="Consolas"/>
              </a:rPr>
              <a:t>[[連結]]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串起來！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50: 總複習與學習資源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你已經學會了！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恭喜你完成了這套教材 🎉 你現在已經具備了 GitHub 與 Obsidian 的基礎操作能力！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🏆 GitHub 篇 — 你學到...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| 主題 | 重點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| 儲存庫 | 建立、管理、設定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| 檔案操作 | 新增、編輯、Commit、Fork |</a:t>
            </a:r>
          </a:p>
        </p:txBody>
      </p:sp>
      <p:pic>
        <p:nvPicPr>
          <p:cNvPr id="5" name="Picture 4" descr="18-obsidian-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50: 總複習與學習資源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協作 | Issue、PR、Code Review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自動化 | Actions、Pages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AI | Copilot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🏆 Obsidian 篇 — 你學到...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主題 | 重點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|------|------|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筆記操作 | 建立、編輯、Markdown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連結 | </a:t>
            </a:r>
            <a:r>
              <a:rPr sz="1300" b="1">
                <a:solidFill>
                  <a:srgbClr val="673AB7"/>
                </a:solidFill>
                <a:latin typeface="Consolas"/>
              </a:rPr>
              <a:t>[[wikilink]]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、反向連結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視覺化 | Graph View、Canvas |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外掛 | 社群外掛生態系 |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50: 總複習與學習資源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| 進階 | 模板、備份、AI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📚 持續學習資源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### GitHub 學習資源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GitHub Skills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https://skills.github.com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GitHub Docs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https://docs.github.com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GitHub Education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https://education.github.com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### Obsidian 學習資源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Obsidian Help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https://help.obsidian.md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Obsidian Forum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https://forum.obsidian.md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Obsidian 社群中文頻道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：YouTube / Discord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50: 總複習與學習資源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🎯 給你的挑戰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一週內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：用 GitHub 建立你的學習筆記儲存庫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一個月內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：在 Obsidian 中建立至少 30 篇筆記，並用連結串起來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三個月內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：參與一個開源專案（即使是修正錯字也算！）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 b="1">
                <a:solidFill>
                  <a:srgbClr val="1B1B1F"/>
                </a:solidFill>
                <a:latin typeface="Microsoft JhengHei"/>
              </a:rPr>
              <a:t>學工具只是開始，真正重要的是你用它們創造了什麼。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 b="1">
                <a:solidFill>
                  <a:srgbClr val="1B1B1F"/>
                </a:solidFill>
                <a:latin typeface="Microsoft JhengHei"/>
              </a:rPr>
              <a:t>祝你學習愉快！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🚀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51: Karpathy 的 LLM Wiki 知識管理哲學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設計理念：讓 AI 來替你維護筆記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矽谷大神 Andrej Karpathy（前 Tesla AI 負責人、OpenAI 共同創辦人）提出了一種新型的知識管理模式：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LLM Wiki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傳統模式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：你自己是程式員，需要手動建立資料夾、打標籤、寫雙向連結，你是系統唯一的維護者。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LLM Wiki 模式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Obsidian 是 IDE（編輯器），LLM 是程式員，Wiki 是代碼庫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。你只需把原始資料丟進收件匣，整理、打標籤、關聯、維護全由 AI 外包處理。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理解 LLM Wiki 的核心比喻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了解 AI 在知識管理中扮演的新角色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建立「用 AI 整理取代手動分類」的思維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51: Karpathy 的 LLM Wiki 知識管理哲學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改變舊習慣：停止糾結於完美的分類與資料夾結構。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了解核心原則：你的主要任務是「輸入（蒐集）」與「利用（提問/產出）」，中間的「整理」交給 AI。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認識 AI 整理的好處：AI 能自動發現兩篇不同文章之間的隱藏關聯，並建立跨文件連結，這是大腦容易忽略的。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思考雙系統併行：保留一個手寫思考的「個人筆記庫」，以及一個 AI 管理的「資訊庫/LLM Wiki」。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核心精神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：你不用自己手動編輯 Wiki，因為那是 LLM 的地盤。系統會隨著時間複利增長。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52: LLM Wiki 的資料夾結構與收件匣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二大核心資料夾：簡化輸入與整理路徑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在 LLM Wiki 系統中，我們只需要兩個主要的資料夾，將收集與整理完全分離：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`raw/` 資料夾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：你的收件匣 (Inbox)。所有未處理的網頁、PDF、文字、圖片等原始素材，全部直接扔進這裡，不需要進行任何手動分類。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`wiki/` 資料夾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：AI 的地盤。AI 會自動讀取 </a:t>
            </a:r>
            <a:r>
              <a:rPr sz="1300" b="1">
                <a:solidFill>
                  <a:srgbClr val="673AB7"/>
                </a:solidFill>
                <a:latin typeface="Consolas"/>
              </a:rPr>
              <a:t>raw/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裡的新檔案，將它們拆解並編譯成結構化的 </a:t>
            </a:r>
            <a:r>
              <a:rPr sz="1300" b="1">
                <a:solidFill>
                  <a:srgbClr val="673AB7"/>
                </a:solidFill>
                <a:latin typeface="Consolas"/>
              </a:rPr>
              <a:t>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筆記，存放在此處。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建立 LLM Wiki 的基礎資料夾結構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理解收件匣 (</a:t>
            </a:r>
            <a:r>
              <a:rPr sz="1300" b="1">
                <a:solidFill>
                  <a:srgbClr val="673AB7"/>
                </a:solidFill>
                <a:latin typeface="Consolas"/>
              </a:rPr>
              <a:t>raw/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) 與知識庫 (</a:t>
            </a:r>
            <a:r>
              <a:rPr sz="13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) 的運作邏輯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52: LLM Wiki 的資料夾結構與收件匣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在 Obsidian 儲存庫的根目錄，建立一個名為 </a:t>
            </a:r>
            <a:r>
              <a:rPr sz="1400" b="1">
                <a:solidFill>
                  <a:srgbClr val="673AB7"/>
                </a:solidFill>
                <a:latin typeface="Consolas"/>
              </a:rPr>
              <a:t>raw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的資料夾。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再建立一個名為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的資料夾。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收集原始資料時（如儲存一篇網路文章），統一將其以 Markdown 格式或純文字儲存在 </a:t>
            </a:r>
            <a:r>
              <a:rPr sz="1400" b="1">
                <a:solidFill>
                  <a:srgbClr val="673AB7"/>
                </a:solidFill>
                <a:latin typeface="Consolas"/>
              </a:rPr>
              <a:t>raw/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中。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每次 AI (如 Claude Code) 進行 Ingest 處理時，它會從 </a:t>
            </a:r>
            <a:r>
              <a:rPr sz="1400" b="1">
                <a:solidFill>
                  <a:srgbClr val="673AB7"/>
                </a:solidFill>
                <a:latin typeface="Consolas"/>
              </a:rPr>
              <a:t>raw/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讀取並搬移/編譯到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內。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設計優勢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：這樣做可以徹底解決「收集資料時卡在要分類到哪裡」的痛點，先存下來再說！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53: 關鍵的 AI 導航文件：index.md 與 log.md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索引與日誌：AI 的羅盤與記憶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為了讓 AI 能夠快速查閱並記錄它的整理工作，系統中包含兩個關鍵的管理檔案：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`index.md`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：整份 Wiki 的知識索引與目錄。它列出了所有的 wiki 頁面與分類，AI 查資料時只需先讀取 </a:t>
            </a:r>
            <a:r>
              <a:rPr sz="1300" b="1">
                <a:solidFill>
                  <a:srgbClr val="673AB7"/>
                </a:solidFill>
                <a:latin typeface="Consolas"/>
              </a:rPr>
              <a:t>index.md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，就能端正要到哪裡尋找，大幅節省 token 與查詢時間。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`log.md`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：AI 的工作日誌。記錄了 AI 每一次 Ingest 處理了哪些文章、新增了哪幾頁、修改了哪些關聯連結，以便隨時追蹤系統歷史。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理解 AI 如何利用索引檔案進行高效檢索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認識工作日誌對維護系統透明度的重要性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53: 關鍵的 AI 導航文件：index.md 與 log.md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在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資料夾下建立一個 </a:t>
            </a:r>
            <a:r>
              <a:rPr sz="1400" b="1">
                <a:solidFill>
                  <a:srgbClr val="673AB7"/>
                </a:solidFill>
                <a:latin typeface="Consolas"/>
              </a:rPr>
              <a:t>index.md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檔案，作為 AI 生成目錄的起點。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在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資料夾下建立一個 </a:t>
            </a:r>
            <a:r>
              <a:rPr sz="1400" b="1">
                <a:solidFill>
                  <a:srgbClr val="673AB7"/>
                </a:solidFill>
                <a:latin typeface="Consolas"/>
              </a:rPr>
              <a:t>log.md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檔案，作為 AI 記錄操作的日誌。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告訴 AI，在每次完成原始資料的編譯與連結更新後，必須同步更新 </a:t>
            </a:r>
            <a:r>
              <a:rPr sz="1400" b="1">
                <a:solidFill>
                  <a:srgbClr val="673AB7"/>
                </a:solidFill>
                <a:latin typeface="Consolas"/>
              </a:rPr>
              <a:t>index.md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與 </a:t>
            </a:r>
            <a:r>
              <a:rPr sz="1400" b="1">
                <a:solidFill>
                  <a:srgbClr val="673AB7"/>
                </a:solidFill>
                <a:latin typeface="Consolas"/>
              </a:rPr>
              <a:t>log.md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小知識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：這套索引機制讓你在擁有數百篇筆記時，依然能維持極快的 AI 查詢與檢索速度。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54: 給 AI 的說明書：claud.md 系統指令檔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claud.md：定義 AI 的工作規則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為了讓 AI (例如使用 Claude Code 工具) 每次啟動時都知道該如何操作，我們需要在根目錄放一個名為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claud.md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（或在專案說明中設定）的說明文件。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這份文件是 AI 的「員工守則」，載明了：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專案的目的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：這是一個個人知識庫。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資料夾規範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</a:t>
            </a:r>
            <a:r>
              <a:rPr sz="1300" b="1">
                <a:solidFill>
                  <a:srgbClr val="673AB7"/>
                </a:solidFill>
                <a:latin typeface="Consolas"/>
              </a:rPr>
              <a:t>raw/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存放原始檔，</a:t>
            </a:r>
            <a:r>
              <a:rPr sz="13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存放編譯好的筆記。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格式規範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：wiki 頁面必須包含摘要、標籤、以及指向其他關聯頁面的雙向連結。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撰寫並配置 </a:t>
            </a:r>
            <a:r>
              <a:rPr sz="1300" b="1">
                <a:solidFill>
                  <a:srgbClr val="673AB7"/>
                </a:solidFill>
                <a:latin typeface="Consolas"/>
              </a:rPr>
              <a:t>claud.md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說明文件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讓 AI 在啟動時自動讀取並遵循該規則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54: 給 AI 的說明書：claud.md 系統指令檔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在儲存庫根目錄新建一個檔案 </a:t>
            </a:r>
            <a:r>
              <a:rPr sz="1400" b="1">
                <a:solidFill>
                  <a:srgbClr val="673AB7"/>
                </a:solidFill>
                <a:latin typeface="Consolas"/>
              </a:rPr>
              <a:t>claud.md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寫入基本說明，載明 raw 和 wiki 資料夾的作用。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設定 wiki 寫作格式，要求 AI 自動提取「概念 (Concepts)」、「人物 (Entities)」與「來源 (Sources)」。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當你打開 CLI 工具（如 Claude Code）時，它會自動讀取此說明書並按要求工作。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：有了這個說明書，你就不用每次打開 AI 都重複解釋你的筆記架構與格式規範。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55: 一鍵擷取網路文章：Obsidian Web Clipper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收集的第一步：將網路瀏覽器與筆記庫串起來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在實作 LLM Wiki 時，最方便的原始資料收集方式是使用瀏覽器擴充功能 ——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Obsidian Web Clipper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它可以讓你將在網路上閱讀到的有價值文章、影片主字稿等，一鍵轉換成 Markdown 格式並儲存到本地的 </a:t>
            </a:r>
            <a:r>
              <a:rPr sz="1200" b="1">
                <a:solidFill>
                  <a:srgbClr val="673AB7"/>
                </a:solidFill>
                <a:latin typeface="Consolas"/>
              </a:rPr>
              <a:t>raw/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資料夾中。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</p:txBody>
      </p:sp>
      <p:pic>
        <p:nvPicPr>
          <p:cNvPr id="5" name="Picture 4" descr="18-obsidian-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55: 一鍵擷取網路文章：Obsidian Web Clipper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安裝並設定 Obsidian Web Clipper 瀏覽器外掛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實現一鍵將網路文章加到 Obsidian </a:t>
            </a:r>
            <a:r>
              <a:rPr sz="1300" b="1">
                <a:solidFill>
                  <a:srgbClr val="673AB7"/>
                </a:solidFill>
                <a:latin typeface="Consolas"/>
              </a:rPr>
              <a:t>raw/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收件匣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打開 Chrome / Edge 線上應用程式商店，搜尋並安裝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Obsidian Web Clipper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外掛。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點擊瀏覽器右上角的外掛圖示，進行基本設定。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將儲存路徑（Save path）設定為你的 Vault 底下的 </a:t>
            </a:r>
            <a:r>
              <a:rPr sz="1300" b="1">
                <a:solidFill>
                  <a:srgbClr val="673AB7"/>
                </a:solidFill>
                <a:latin typeface="Consolas"/>
              </a:rPr>
              <a:t>raw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資料夾。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當你瀏覽到好文章時，點選外掛圖示，確認標題與格式，點擊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Add to Obsidian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即可完成收集。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55: 一鍵擷取網路文章：Obsidian Web Clipper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🖼️ 看看畫面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：如果需要 YouTube 影片的主字稿，可以搭配外掛（如 YouTube transcript tools）複製全文再儲存。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56: 跨文件的 AI 知識對話與問答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問答模式：視覺化 AI 第二大腦的聯想力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當 AI 幫我們整理好 wiki 之後，我們可以直接對它提問。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與傳統的關鍵字搜尋不同，AI 能夠綜合多篇不同文章的內容，為你回答跨領域、具聯想性的問題，並給出明確的推論與參考來源。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學會向 AI 進行知識庫問答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體驗跨文件知識關聯的便利性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打開終端機，啟動你的 AI 助理（如 Claude Code）。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輸入問題，例如：「*根據我知識庫裡的資料，納瓦爾談論的『專屬知識』與我讀的『閱讀學習方法』有何關聯？*」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56: 跨文件的 AI 知識對話與問答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觀察 AI 的回答：它會讀取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wiki/index.md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，找到相關概念檔案，並綜合回答。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檢查 AI 給出的引用連結，點擊即可在 Obsidian 中開啟對應的筆記。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小知識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：這完全免去了你手動在幾十篇筆記中翻找、比對的痛苦，AI 能在一秒內幫你接起關聯。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57: AI 輔助 Wiki 體檢與知識缺口搜尋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系統維護：讓 AI 定期檢查你的知識庫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隨著時間推移，筆記庫會越來越龐大。我們可以讓 AI 定期幫我們的 Wiki 進行「健康檢查」，尋找是否有互相矛盾的資訊，或者發現哪些知識領域目前資料過少，需要補充。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讓 AI 自動進行知識庫的健康檢查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找出系統中的知識缺口 (Knowledge Gaps)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與 AI 助理開啟對話。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輸入指令：「*請幫我的 wiki 進行健康檢查，列出是否有斷掉的連結，或資訊過於單薄的頁面。*」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AI 會掃描 </a:t>
            </a:r>
            <a:r>
              <a:rPr sz="13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資料夾，給出分析報告。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57: AI 輔助 Wiki 體檢與知識缺口搜尋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根據 AI 的報告，它可以為你推薦下一步應該收集什麼主題的文章來補充此知識缺口。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實用技巧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：每兩週讓 AI 跑一次體檢，能確保你的個人知識庫保持高度的結構一致性與完整度。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58: 個人思考庫與 AI 資訊庫的平行工作流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雙系統併行：保護你的原創思考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AI 雖然強大，但不能代替你思考。建議在 Obsidian 中同時維持兩套筆記系統，它們並行運作、互不干擾，但資訊互通：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個人思考庫 (My Thoughts)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：由你親自手寫，記錄每日記錄、學習複盤、靈感與行動計劃。這是你思考與成長的痕跡。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AI 資訊庫 (LLM Wiki)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：由 AI 維護，存放網路文章、PDF 摘錄等，解決長期無序整理與調用問題。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理解雙筆記系統的平行工作流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設定個人思考庫與 AI 庫的互連方式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58: 個人思考庫與 AI 資訊庫的平行工作流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7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建立一個專屬於你的資料夾（如 </a:t>
            </a:r>
            <a:r>
              <a:rPr sz="1400" b="1">
                <a:solidFill>
                  <a:srgbClr val="673AB7"/>
                </a:solidFill>
                <a:latin typeface="Consolas"/>
              </a:rPr>
              <a:t>My_Notes/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），只放你自己手寫的筆記。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建立 AI wiki 資料夾（如 </a:t>
            </a:r>
            <a:r>
              <a:rPr sz="1400" b="1">
                <a:solidFill>
                  <a:srgbClr val="673AB7"/>
                </a:solidFill>
                <a:latin typeface="Consolas"/>
              </a:rPr>
              <a:t>wiki/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），讓 AI 維護。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當你在手寫筆記中需要參考外部資料時，使用 </a:t>
            </a:r>
            <a:r>
              <a:rPr sz="1400" b="1">
                <a:solidFill>
                  <a:srgbClr val="673AB7"/>
                </a:solidFill>
                <a:latin typeface="Consolas"/>
              </a:rPr>
              <a:t>[[wiki/概念名稱]]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連結過去。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保持 AI 庫的乾淨，避免 AI 覆蓋到你自己的思考筆記。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⚠️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重要觀念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：不要把系統完全交給 AI。只有將「你的思考」與「AI 的整理」結合，才是最強大的第二大腦。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59: 介面優化神器：Setting Search 與 Recent Files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優化操作體驗：讓設定與尋找變得極簡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在開始安裝複雜功能前，我們建議先裝兩個極小但極為實用的社群外掛，來優化 Obsidian 本身的操作體驗：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Settings Search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：在 Obsidian 繁雜的設定頁面頂部加上一個搜尋框，讓你一秒找到你要的設定。</a:t>
            </a:r>
          </a:p>
        </p:txBody>
      </p:sp>
      <p:pic>
        <p:nvPicPr>
          <p:cNvPr id="5" name="Picture 4" descr="13-obsidian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59: 介面優化神器：Setting Search 與 Recent Files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Recent Files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：在側邊欄加上一個最近開啟檔案的清單，方便你在最近編輯的幾篇筆記中快速切換。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安裝並設定 Settings Search 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安裝並設定 Recent Files 外掛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進入 Obsidian 設定 →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社群外掛程式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→ 點擊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瀏覽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搜尋 </a:t>
            </a:r>
            <a:r>
              <a:rPr sz="1300" b="1">
                <a:solidFill>
                  <a:srgbClr val="673AB7"/>
                </a:solidFill>
                <a:latin typeface="Consolas"/>
              </a:rPr>
              <a:t>Settings Search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並安裝、啟用它。此時打開設定頁，頂部會出現搜尋框。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再次進入瀏覽，搜尋 </a:t>
            </a:r>
            <a:r>
              <a:rPr sz="1300" b="1">
                <a:solidFill>
                  <a:srgbClr val="673AB7"/>
                </a:solidFill>
                <a:latin typeface="Consolas"/>
              </a:rPr>
              <a:t>Recent Files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並安裝、啟用它。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觀察左側側邊欄，會多出一個時鐘圖示，點開即可看到最近存取檔案清單。你可以拖曳它到最順手的位置。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59: 介面優化神器：Setting Search 與 Recent Files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🖼️ 看看畫面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：這兩個功能非常基礎，幾乎是所有 Obsidian 重度使用者的必備裝備。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60: 視覺化時間軸：Calendar 日曆外掛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Calendar：讓每日筆記與時間掛鉤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Calendar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外掛會在你的側邊欄顯示一個精美的月曆。它與 Obsidian 的核心插件 </a:t>
            </a:r>
            <a:r>
              <a:rPr sz="1200" b="1">
                <a:solidFill>
                  <a:srgbClr val="1B1B1F"/>
                </a:solidFill>
                <a:latin typeface="Microsoft JhengHei"/>
              </a:rPr>
              <a:t>Daily notes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（每日筆記）完美整合，是時間管理與每日記錄的視覺化中心。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安裝並設定 Calendar 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實現點擊日曆圖示快速開啟或建立當天日記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</p:txBody>
      </p:sp>
      <p:pic>
        <p:nvPicPr>
          <p:cNvPr id="5" name="Picture 4" descr="17-obsidian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60: 視覺化時間軸：Calendar 日曆外掛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1. 進入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設定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社群外掛程式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→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瀏覽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，搜尋並安裝 </a:t>
            </a:r>
            <a:r>
              <a:rPr sz="1400" b="1">
                <a:solidFill>
                  <a:srgbClr val="673AB7"/>
                </a:solidFill>
                <a:latin typeface="Consolas"/>
              </a:rPr>
              <a:t>Calendar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外掛並啟用。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在右側欄展開，你會看到一個小月曆出現在那裡。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點擊月曆上的任意日期：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若當天已有 Daily Note，會直接跳轉開啟。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 若當天沒有筆記，會跳出提示問你是否建立，點擊確認即可自動建立當天日記。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月曆上的日期若有標示小點，代表當天有記錄，小點越多代表字數越多。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🖼️ 看看畫面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60: 視覺化時間軸：Calendar 日曆外掛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實用技巧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：你可以在 Calendar 設定中開啟「週記 (Weekly Note)」功能，幫助你進行每週的學習與工作總結！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61: 標籤管理專家：Tag Wrangler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754880"/>
          </a:xfrm>
          <a:prstGeom prst="rect">
            <a:avLst/>
          </a:prstGeom>
          <a:noFill/>
        </p:spPr>
        <p:txBody>
          <a:bodyPr wrap="square" lIns="228600" rIns="228600" tIns="182880" bIns="18288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📖 Tag Wrangler：一鍵重命名與批次修改標籤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隨著筆記增加，標籤（Tags）會越來越混亂，例如有時輸入 </a:t>
            </a:r>
            <a:r>
              <a:rPr sz="1200" b="1">
                <a:solidFill>
                  <a:srgbClr val="673AB7"/>
                </a:solidFill>
                <a:latin typeface="Consolas"/>
              </a:rPr>
              <a:t>#工作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，有時輸入大寫的 </a:t>
            </a:r>
            <a:r>
              <a:rPr sz="1200" b="1">
                <a:solidFill>
                  <a:srgbClr val="673AB7"/>
                </a:solidFill>
                <a:latin typeface="Consolas"/>
              </a:rPr>
              <a:t>#WORK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1B1B1F"/>
                </a:solidFill>
                <a:latin typeface="Microsoft JhengHei"/>
              </a:rPr>
              <a:t>Tag Wrangler</a:t>
            </a:r>
            <a:r>
              <a:rPr sz="1200">
                <a:solidFill>
                  <a:srgbClr val="1B1B1F"/>
                </a:solidFill>
                <a:latin typeface="Microsoft JhengHei"/>
              </a:rPr>
              <a:t> 是一個強大的標籤管理外掛，它允許你直接在標籤面板上對標籤進行重新命名、合併或刪除，系統會自動在背景修改所有包含該標籤的筆記。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5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200">
                <a:solidFill>
                  <a:srgbClr val="1B1B1F"/>
                </a:solidFill>
                <a:latin typeface="Microsoft JhengHei"/>
              </a:rPr>
              <a:t>- 安裝 Tag Wrangler 外掛</a:t>
            </a:r>
          </a:p>
        </p:txBody>
      </p:sp>
      <p:pic>
        <p:nvPicPr>
          <p:cNvPr id="5" name="Picture 4" descr="15-obsidian-l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61: 標籤管理專家：Tag Wrangler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實作在標籤面板中一鍵重新命名標籤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到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社群外掛程式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市場搜尋 </a:t>
            </a:r>
            <a:r>
              <a:rPr sz="1300" b="1">
                <a:solidFill>
                  <a:srgbClr val="673AB7"/>
                </a:solidFill>
                <a:latin typeface="Consolas"/>
              </a:rPr>
              <a:t>Tag Wrangler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並安裝啟用。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打開 Obsidian 的右側欄，切換到標籤面板（顯示你所有標籤的地方）。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在你想修改的標籤上（例如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#工作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）按右鍵。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選取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Rename #工作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，輸入新的標籤名稱（例如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#work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）。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點擊確定，外掛會自動搜尋並更新你所有筆記中對應的標籤，完成同步。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🖼️ 看看畫面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小知識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：如果兩個不同名稱的標籤重命名為同一個名字，Tag Wrangler 會自動將它們合併在一起！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61: 標籤管理專家：Tag Wrangler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62: 全文模糊搜尋大師：Omnisearch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Omnisearch：搜得到筆記裡的每一個字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Obsidian 內建的搜尋只支援檔名與簡單的字詞搜尋。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Omnisearch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是一個極為強大的模糊搜尋引擎，它不僅能搜尋筆記名稱，還能搜尋筆記內文、PDF 附件內容、甚至圖片中的文字 (OCR)。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 Omnisearch 外掛並設定快捷鍵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實作使用 Omnisearch 快速尋找遺忘標題的筆記內容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在外掛市場搜尋並安裝 </a:t>
            </a:r>
            <a:r>
              <a:rPr sz="1300" b="1">
                <a:solidFill>
                  <a:srgbClr val="673AB7"/>
                </a:solidFill>
                <a:latin typeface="Consolas"/>
              </a:rPr>
              <a:t>Omnisearch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並啟用。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進入 Omnisearch 的設定頁面，確認已開啟中文支援，並讓系統完成第一次的索引編譯。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62: 全文模糊搜尋大師：Omnisearch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進入 Obsidian 設定 → </a:t>
            </a:r>
            <a:r>
              <a:rPr sz="1400" b="1">
                <a:solidFill>
                  <a:srgbClr val="1B1B1F"/>
                </a:solidFill>
                <a:latin typeface="Microsoft JhengHei"/>
              </a:rPr>
              <a:t>快捷鍵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，搜尋 </a:t>
            </a:r>
            <a:r>
              <a:rPr sz="1400" b="1">
                <a:solidFill>
                  <a:srgbClr val="673AB7"/>
                </a:solidFill>
                <a:latin typeface="Consolas"/>
              </a:rPr>
              <a:t>Omnisearch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將 </a:t>
            </a:r>
            <a:r>
              <a:rPr sz="1400" b="1">
                <a:solidFill>
                  <a:srgbClr val="673AB7"/>
                </a:solidFill>
                <a:latin typeface="Consolas"/>
              </a:rPr>
              <a:t>Omnisearch: Open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的快捷鍵設為 </a:t>
            </a:r>
            <a:r>
              <a:rPr sz="1400" b="1">
                <a:solidFill>
                  <a:srgbClr val="673AB7"/>
                </a:solidFill>
                <a:latin typeface="Consolas"/>
              </a:rPr>
              <a:t>Ctrl + Shift + F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或其他你喜歡的組合。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5. 按下快捷鍵喚起 Omnisearch 視窗，輸入你想找的句子片段，它會立刻列出匹配的筆記與段落。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：當你的筆記量達到幾百篇以上時，這款外掛能大幅減少你翻找資料的時間。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63: 不打斷思路的快寫助理：QuickAdd 捕捉設定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QuickAdd：在不離開當前頁面的情況下快速記錄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QuickAdd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是 Obsidian 中最熱門的效率外掛之一。它解決的核心痛點是：當你正在寫 A 筆記時，突然腦中閃過一個與 B 相關的靈感，你不用切換視窗，就能快速將靈感「寫入」B 筆記中，保證思緒不被打斷。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 QuickAdd 並建立一個 Capture（捕捉）動作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 Capture 將靈感寫入 Daily Note 的最下方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安裝並啟用 </a:t>
            </a:r>
            <a:r>
              <a:rPr sz="1300" b="1">
                <a:solidFill>
                  <a:srgbClr val="673AB7"/>
                </a:solidFill>
                <a:latin typeface="Consolas"/>
              </a:rPr>
              <a:t>QuickAdd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外掛。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進入 QuickAdd 設定頁面：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在輸入框中命名為：「</a:t>
            </a:r>
            <a:r>
              <a:rPr sz="1300" b="1">
                <a:solidFill>
                  <a:srgbClr val="673AB7"/>
                </a:solidFill>
                <a:latin typeface="Consolas"/>
              </a:rPr>
              <a:t>日記靈感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」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63: 不打斷思路的快寫助理：QuickAdd 捕捉設定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類型選擇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Capture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(捕捉)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點擊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Add Choice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建立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點擊「日記靈感」右側的齒輪按鈕進入詳細設定：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File Path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設定為你的 Daily Note 資料夾路徑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開啟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Create file if it doesn't exist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開啟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Append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(將新靈感附加在檔案末尾)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設定完成後，返回主頁面，將「日記靈感」旁邊的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小閃電（啟用快捷）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點亮。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小知識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：QuickAdd 擁有豐富的變數功能，可以自動記錄你寫下靈感的精確時間！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64: 靈感閃現隨手記：QuickAdd 實戰應用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Capture 功能實戰：隨手一記，自動歸檔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設定好 QuickAdd 的 Capture 動作後，我們可以隨時在任何地方喚起它，快速寫入筆記。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實作在閱讀文章時，使用 QuickAdd 快捷鍵快速記錄啟發靈感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驗證靈感是否成功寫入 Daily Note 並與當前文章建立連結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按下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打開命令面板，搜尋並執行 </a:t>
            </a:r>
            <a:r>
              <a:rPr sz="1300" b="1">
                <a:solidFill>
                  <a:srgbClr val="673AB7"/>
                </a:solidFill>
                <a:latin typeface="Consolas"/>
              </a:rPr>
              <a:t>QuickAdd: 日記靈感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系統頂部會出現一個輸入框，請輸入你的想法，例如：「*今天讀了 Git 分支，我覺得平行宇宙的比喻很適合用在我的報告中。*」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按下 Enter 提交。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64: 靈感閃現隨手記：QuickAdd 實戰應用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開啟你今天的 Daily Note，你會發現剛才打的這句話已經被自動寫在日記的最下方，並附帶了時間戳記。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5. 你正專注做的事（例如寫程式或讀文章）完全沒有被中斷。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：你可以在 Obsidian 的快捷鍵設定中，直接為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QuickAdd: 日記靈感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 綁定一個專屬的快捷鍵（例如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Alt + I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），效率會更高！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65: 範本快速套用：QuickAdd 模板自動化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QuickAdd Template：一鍵生成結構化筆記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除了 Capture，QuickAdd 的第二個核心功能是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Template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（模板）。它能讓你一鍵在指定資料夾中建立帶有預設格式（例如會議記錄、讀書筆記）的新檔案，並自動引導你輸入名稱。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在 QuickAdd 中新增一個 Template 動作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實現一鍵在 </a:t>
            </a:r>
            <a:r>
              <a:rPr sz="1300" b="1">
                <a:solidFill>
                  <a:srgbClr val="673AB7"/>
                </a:solidFill>
                <a:latin typeface="Consolas"/>
              </a:rPr>
              <a:t>工作總結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資料夾建立帶有模板的新筆記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先在你的儲存庫中建立一個 </a:t>
            </a:r>
            <a:r>
              <a:rPr sz="1300" b="1">
                <a:solidFill>
                  <a:srgbClr val="673AB7"/>
                </a:solidFill>
                <a:latin typeface="Consolas"/>
              </a:rPr>
              <a:t>Templates/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資料夾，並在裡面放一個名為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工作總結模板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的筆記。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65: 範本快速套用：QuickAdd 模板自動化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進入 QuickAdd 設定，新增一個名為「</a:t>
            </a:r>
            <a:r>
              <a:rPr sz="1300" b="1">
                <a:solidFill>
                  <a:srgbClr val="673AB7"/>
                </a:solidFill>
                <a:latin typeface="Consolas"/>
              </a:rPr>
              <a:t>新建工作總結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」的 Choice，類型選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Template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，點擊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Add Choice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點選齒輪進入設定：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Template Path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選取剛才建立的 </a:t>
            </a:r>
            <a:r>
              <a:rPr sz="1300" b="1">
                <a:solidFill>
                  <a:srgbClr val="673AB7"/>
                </a:solidFill>
                <a:latin typeface="Consolas"/>
              </a:rPr>
              <a:t>工作總結模板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File Name Format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可以設定為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工作總結-{{DATE}}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Create in folder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選取你想存放工作總結的資料夾。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點亮「新建工作總結」旁邊的小閃電圖示。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按下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P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執行 </a:t>
            </a:r>
            <a:r>
              <a:rPr sz="1300" b="1">
                <a:solidFill>
                  <a:srgbClr val="673AB7"/>
                </a:solidFill>
                <a:latin typeface="Consolas"/>
              </a:rPr>
              <a:t>QuickAdd: 新建工作總結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，觀察系統是否自動幫你建立了格式化筆記。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進階玩法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：QuickAdd 還支援 Macro 巨集，可以讓你把「建立筆記」、「填寫日期」、「打開側邊欄」等多個步驟串在一起，一鍵執行！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65: 範本快速套用：QuickAdd 模板自動化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66: 全面追蹤待辦事項：Tasks 任務外掛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Tasks：將你的筆記變成強大的任務管理系統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當你在各篇筆記（如課堂筆記、會議記錄、日記）中隨手寫下待辦事項 </a:t>
            </a:r>
            <a:r>
              <a:rPr sz="1300" b="1">
                <a:solidFill>
                  <a:srgbClr val="673AB7"/>
                </a:solidFill>
                <a:latin typeface="Consolas"/>
              </a:rPr>
              <a:t>- [ ]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時，它們很容易散落各處被遺忘。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Tasks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外掛可以幫你把散落在整個儲存庫裡的所有待辦事項自動收集起來，並允許你設定到期日、優先級與重複規則。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安裝 Tasks 外掛並學習其任務建立語法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實作在筆記中建立帶有優先級與截止日期的任務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在外掛市場搜尋並安裝啟用 </a:t>
            </a:r>
            <a:r>
              <a:rPr sz="1300" b="1">
                <a:solidFill>
                  <a:srgbClr val="673AB7"/>
                </a:solidFill>
                <a:latin typeface="Consolas"/>
              </a:rPr>
              <a:t>Tasks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外掛。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打開一篇筆記，輸入一般的 Markdown 待辦清單：</a:t>
            </a:r>
            <a:r>
              <a:rPr sz="1300" b="1">
                <a:solidFill>
                  <a:srgbClr val="673AB7"/>
                </a:solidFill>
                <a:latin typeface="Consolas"/>
              </a:rPr>
              <a:t>- [ ] 準備期末考簡報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66: 全面追蹤待辦事項：Tasks 任務外掛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按下快捷鍵 </a:t>
            </a:r>
            <a:r>
              <a:rPr sz="1300" b="1">
                <a:solidFill>
                  <a:srgbClr val="673AB7"/>
                </a:solidFill>
                <a:latin typeface="Consolas"/>
              </a:rPr>
              <a:t>Ctrl + Enter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（或在編輯器中按右鍵選 Tasks 動作），會跳出一個精美的任務編輯視窗。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在視窗中：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Priority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(優先級) 為 High (高)。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Due Date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(到期日) 為今天。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設定 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Recurrence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(重複規則) 為每週。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點擊確定，你會發現任務後方多出了精美的表情符號與日期標記。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小知識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：Tasks 外掛使用特別的 Unicode 符號來儲存這些中介資料，非常輕量且不影響純文字格式！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67: 打造個人儀表板：Tasks Dashboard 任務看板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任務查詢：自動收集所有筆記中的待辦事項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Tasks 外掛最強大的地方在於，它允許你使用簡單的查詢語法，在一篇筆記中列出整個儲存庫中「今天到期」、「逾期未完成」或「高優先級」的所有任務。這就像一個自動維護的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任務看板 (Dashboard)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建立一個 Tasks 查詢區塊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實作自動收集所有筆記中今天到期的待辦事項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新增一篇名為 </a:t>
            </a:r>
            <a:r>
              <a:rPr sz="1300" b="1">
                <a:solidFill>
                  <a:srgbClr val="673AB7"/>
                </a:solidFill>
                <a:latin typeface="Consolas"/>
              </a:rPr>
              <a:t>任務看板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的筆記。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在筆記中輸入以下 Tasks 查詢代碼區塊：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not done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67: 打造個人儀表板：Tasks Dashboard 任務看板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due today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3. 切換到閱讀模式，你會發現這個區塊自動列出了你所有筆記中今天到期的待辦事項。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4. 你也可以試著寫更複雜的查詢，例如：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not done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priority is high</a:t>
            </a:r>
          </a:p>
          <a:p>
            <a:pPr lvl="1"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100" b="1">
                <a:solidFill>
                  <a:srgbClr val="673AB7"/>
                </a:solidFill>
                <a:latin typeface="Consolas"/>
              </a:rPr>
              <a:t>short mode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5. 當你在其他筆記中勾選完成任務時，這個看板會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即時自動更新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，不需要手動修改。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2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實用技巧</a:t>
            </a:r>
            <a:r>
              <a:rPr sz="1200" b="1">
                <a:solidFill>
                  <a:srgbClr val="009688"/>
                </a:solidFill>
                <a:latin typeface="Microsoft JhengHei"/>
              </a:rPr>
              <a:t>：把這個任務看板固定在你的右側欄或釘選在首頁，每天打開就能立刻掌握今天該做什麼！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68: 從「尋找外掛」到「自製外掛」：AI 插件開發思維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觀念轉變：讓 AI 替你打造量身定做的工具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當我們用了 Obsidian 一段時間後，常會為了實現某個特定功能而裝了幾十個外掛，導致系統變慢、出現 bug 或介面混亂。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1B1B1F"/>
                </a:solidFill>
                <a:latin typeface="Microsoft JhengHei"/>
              </a:rPr>
              <a:t>AI 時代的新思維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：不要去網路上尋找別人的外掛來將就使用，而是直接用自然的語言描述你的需求，</a:t>
            </a:r>
            <a:r>
              <a:rPr sz="1300" b="1">
                <a:solidFill>
                  <a:srgbClr val="1B1B1F"/>
                </a:solidFill>
                <a:latin typeface="Microsoft JhengHei"/>
              </a:rPr>
              <a:t>讓 AI 替你寫一個只屬於你的個性化外掛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！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理解 AI 輔助外掛開發的本質與優勢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學習如何向 AI 準確描述外掛的需求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識別你的獨特需求：例如，你想在側邊欄顯示一個特定格式的工作進度條。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68: 從「尋找外掛」到「自製外掛」：AI 插件開發思維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放下代碼焦慮：你不需要懂 JavaScript 或 TypeScript，AI 會負責寫出完整的代碼。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撰寫需求規格書：準備好你的文字描述，包含介面長相、要讀取哪些資料夾、要顯示什麼條件。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了解外掛的三大基礎設施：大部分自製外掛只需利用 Dataview、Templater 或簡單的 JS 腳本即可實現。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設計哲學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：外掛的本質是個人工作流的體現。別人的外掛滿足的是共性，AI 做的外掛滿足的是你的個性。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69: 零代碼實作：用 AI 寫一個側邊欄任務清單外掛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實作篇：向 AI 提問，產出你的第一個外掛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我們將透過向 AI (如 Claude Code) 發送明確的 Prompt，來自動生成一個側邊欄的任務清單外掛，並帶有進度條。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撰寫生成外掛代碼的 AI 提示詞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在 Obsidian 中載入並運行 AI 幫你寫好的外掛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準備以下 Prompt 發送給 AI 助理：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*「請幫我寫一個 Obsidian 的 DataviewJS 腳本，用於在側邊欄顯示任務進度。需求：*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*1. 篩選出 </a:t>
            </a:r>
            <a:r>
              <a:rPr sz="1300" b="1">
                <a:solidFill>
                  <a:srgbClr val="673AB7"/>
                </a:solidFill>
                <a:latin typeface="Consolas"/>
              </a:rPr>
              <a:t>10_Projects/</a:t>
            </a:r>
            <a:r>
              <a:rPr sz="1300">
                <a:solidFill>
                  <a:srgbClr val="1B1B1F"/>
                </a:solidFill>
                <a:latin typeface="Microsoft JhengHei"/>
              </a:rPr>
              <a:t> 資料夾下所有未完成的待辦事項。*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69: 零代碼實作：用 AI 寫一個側邊欄任務清單外掛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*2. 計算這些待辦事項的完成比例，並用一個精美的 CSS 進度條顯示。*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*3. 列出前 5 個最緊急的未完成任務。」*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2. AI 會在一分鐘內生成出一段 JavaScript 程式碼。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在你的 Obsidian 中新建一篇筆記（如 </a:t>
            </a:r>
            <a:r>
              <a:rPr sz="1400" b="1">
                <a:solidFill>
                  <a:srgbClr val="673AB7"/>
                </a:solidFill>
                <a:latin typeface="Consolas"/>
              </a:rPr>
              <a:t>sidebar_tasks.md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），將程式碼貼入 </a:t>
            </a:r>
            <a:r>
              <a:rPr sz="1400" b="1">
                <a:solidFill>
                  <a:srgbClr val="673AB7"/>
                </a:solidFill>
                <a:latin typeface="Consolas"/>
              </a:rPr>
              <a:t>dataviewjs</a:t>
            </a:r>
            <a:r>
              <a:rPr sz="1400">
                <a:solidFill>
                  <a:srgbClr val="1B1B1F"/>
                </a:solidFill>
                <a:latin typeface="Microsoft JhengHei"/>
              </a:rPr>
              <a:t> 代碼塊中。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將這篇筆記拖曳到側邊欄，切換為預覽模式，你就會看到專屬的任務進度條與清單！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：DataviewJS 是一個極佳的自製外掛容器，讓你不用打包成正式外掛就能運行自訂功能。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70: 反覆迭代優化：讓 AI 成為你的專屬外掛設計師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📖 迭代與修改：不完美是常態，讓 AI 幫你改到好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第一次生成的外掛可能不夠完美，或者樣式需要微調。沒關係！你只需要像跟設計師溝通一樣，把你不滿意的地方直接告訴 AI，它就會立刻幫你修改並更新程式碼。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🎯 本課目標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學習如何引導 AI 對外掛進行優化與 Debug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- 實作外掛版面與篩選條件的二次修改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009688"/>
                </a:solidFill>
                <a:latin typeface="Microsoft JhengHei"/>
              </a:rPr>
              <a:t>👣 操作步驟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1. 觀察剛才生成的外掛：例如，你覺得進度條的顏色太暗，且標題文字太小。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300">
                <a:solidFill>
                  <a:srgbClr val="1B1B1F"/>
                </a:solidFill>
                <a:latin typeface="Microsoft JhengHei"/>
              </a:rPr>
              <a:t>2. 向 AI 發送修改請求：「*請幫我優化剛才的腳本。請將進度條的顏色改為亮紫色（#7C4DFF），並把任務清單的字型大小調整為 14px，且當沒有任務時顯示『🎉 所有任務已完成！』。*」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673AB7"/>
                </a:solidFill>
                <a:latin typeface="Microsoft JhengHei"/>
              </a:defRPr>
            </a:pPr>
            <a:r>
              <a:t>頁 70: 反覆迭代優化：讓 AI 成為你的專屬外掛設計師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</p:spPr>
        <p:txBody>
          <a:bodyPr wrap="square" lIns="274320" rIns="274320" tIns="228600" bIns="22860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3. AI 會立即給出更新後的代碼。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4. 將更新後的代碼覆蓋貼回到 Obsidian 中，重啟或重新整理頁面，觀察變更是否生效。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>
                <a:latin typeface="Microsoft JhengHei"/>
              </a:defRPr>
            </a:pPr>
            <a:r>
              <a:rPr sz="1400">
                <a:solidFill>
                  <a:srgbClr val="1B1B1F"/>
                </a:solidFill>
                <a:latin typeface="Microsoft JhengHei"/>
              </a:rP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500"/>
              </a:spcAft>
              <a:defRPr>
                <a:latin typeface="Microsoft JhengHei"/>
              </a:defRPr>
            </a:pPr>
            <a:r>
              <a:rPr sz="1300" b="1">
                <a:solidFill>
                  <a:srgbClr val="009688"/>
                </a:solidFill>
                <a:latin typeface="Microsoft JhengHei"/>
              </a:rPr>
              <a:t>💡 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老師提示</a:t>
            </a:r>
            <a:r>
              <a:rPr sz="1300" b="1">
                <a:solidFill>
                  <a:srgbClr val="009688"/>
                </a:solidFill>
                <a:latin typeface="Microsoft JhengHei"/>
              </a:rPr>
              <a:t>：筆記系統是「長出來的」，外掛也是。跟著你的實際需求，讓 AI 逐步幫你打磨出最順手的工具！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