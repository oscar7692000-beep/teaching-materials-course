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5669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1B1B1F"/>
                </a:solidFill>
                <a:latin typeface="Microsoft JhengHei"/>
              </a:defRPr>
            </a:pPr>
            <a:r>
              <a:t>Obsidian 第二大腦</a:t>
            </a:r>
          </a:p>
          <a:p>
            <a:pPr>
              <a:defRPr sz="2000">
                <a:solidFill>
                  <a:srgbClr val="009688"/>
                </a:solidFill>
                <a:latin typeface="Microsoft JhengHei"/>
              </a:defRPr>
            </a:pPr>
            <a:r>
              <a:t>高中/國中版數位學習與知識管理指南</a:t>
            </a:r>
          </a:p>
        </p:txBody>
      </p:sp>
      <p:pic>
        <p:nvPicPr>
          <p:cNvPr id="3" name="Picture 2" descr="obsidian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47548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你的大腦不是硬碟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大腦擅長「思考與聯想」，不擅長「記憶細節」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人腦就像記憶體 (RAM) — 容量有限，斷電就忘，且受遺忘曲線影響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與其拼命死記硬背，不如建立穩健的「外部系統」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建立第二大腦，能有效減輕腦部負擔，釋放深度思考的創造力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什麼是第二大腦與 CODE 法則？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第二大腦是個人化的數位思考外掛與系統，幫助我們管理知識與生活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CODE 法則的四個步驟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Capture (捕捉)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: 快速記錄有價值的靈感與課堂資料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Organize (整理)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: 將收集來的資訊分類歸檔，便於未來存取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Distill (萃取)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: 提煉文章或課堂的精華重點與核心觀念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Express (表達)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: 整合所學，產出期末報告、簡報或作文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Obsidian 的三大核心堅持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1. 本地優先 (Local-first)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所有筆記檔案直接儲存在你的本機電腦，安全、私密且完全離線可用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2. 純文字檔案 (Markdown)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筆記採用標準的 </a:t>
            </a:r>
            <a:r>
              <a:rPr sz="1800" b="1">
                <a:solidFill>
                  <a:srgbClr val="673AB7"/>
                </a:solidFill>
                <a:latin typeface="Consolas"/>
              </a:rPr>
              <a:t>.md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格式，不用擔心軟體倒閉，50 年後依然能打開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3. 雙向連結 (Networked)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筆記之間能互相串連，模擬大腦神經元，以網狀連結取代古板的樹狀資料夾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主流筆記工具大比拼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73AB7"/>
                </a:solidFill>
                <a:latin typeface="Microsoft JhengHei"/>
              </a:defRPr>
            </a:pPr>
            <a:r>
              <a:t>Obsidian (推薦選擇)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完全免費且可離線使用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雙向連結與視覺化知識圖譜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檔案存在本地，完全擁有自主權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大量開源社群外掛，可任意擴充功能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56575"/>
                </a:solidFill>
                <a:latin typeface="Microsoft JhengHei"/>
              </a:defRPr>
            </a:pPr>
            <a:r>
              <a:t>其他筆記軟體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663440" cy="365760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Notion: 資料庫功能強大，但過於複雜且必須連網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Evernote: 封閉格式、歷史冗長，且收費營運面臨挑戰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Apple Notes: 功能極簡，不適合做跨領域知識的關聯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開始第一步：建立 Vault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什麼是 Vault (儲存庫)？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在 Obsidian 中，一個 Vault 就是電腦上的一個一般資料夾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建立步驟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前往官網 </a:t>
            </a:r>
            <a:r>
              <a:rPr sz="1800" b="1">
                <a:solidFill>
                  <a:srgbClr val="673AB7"/>
                </a:solidFill>
                <a:latin typeface="Consolas"/>
              </a:rPr>
              <a:t>https://obsidian.md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下載安裝檔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打開後切換成繁體中文語言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點擊「建立新儲存庫」，命名為「我的學習筆記」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選擇放在桌面或文件等您容易找到的位置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Markdown 語法：標題與粗斜體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Markdown 讓您不需要使用滑鼠點擊工具列，只靠鍵盤符號就能排版：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標題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：使用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#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加上空格，</a:t>
            </a:r>
            <a:r>
              <a:rPr sz="1800" b="1">
                <a:solidFill>
                  <a:srgbClr val="673AB7"/>
                </a:solidFill>
                <a:latin typeface="Consolas"/>
              </a:rPr>
              <a:t>#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越多標題越小。例如：</a:t>
            </a:r>
          </a:p>
          <a:p>
            <a:pPr lvl="2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 b="1">
                <a:solidFill>
                  <a:srgbClr val="673AB7"/>
                </a:solidFill>
                <a:latin typeface="Consolas"/>
              </a:rPr>
              <a:t># 一級標題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 (文章主標題)</a:t>
            </a:r>
          </a:p>
          <a:p>
            <a:pPr lvl="2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 b="1">
                <a:solidFill>
                  <a:srgbClr val="673AB7"/>
                </a:solidFill>
                <a:latin typeface="Consolas"/>
              </a:rPr>
              <a:t>## 二級標題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 (章節大標)</a:t>
            </a:r>
          </a:p>
          <a:p>
            <a:pPr lvl="2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 b="1">
                <a:solidFill>
                  <a:srgbClr val="673AB7"/>
                </a:solidFill>
                <a:latin typeface="Consolas"/>
              </a:rPr>
              <a:t>### 三級標題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 (小節標題)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粗體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：在文字前後包覆 </a:t>
            </a:r>
            <a:r>
              <a:rPr sz="1800" b="1">
                <a:solidFill>
                  <a:srgbClr val="673AB7"/>
                </a:solidFill>
                <a:latin typeface="Consolas"/>
              </a:rPr>
              <a:t>**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，例如：</a:t>
            </a:r>
            <a:r>
              <a:rPr sz="1800" b="1">
                <a:solidFill>
                  <a:srgbClr val="673AB7"/>
                </a:solidFill>
                <a:latin typeface="Consolas"/>
              </a:rPr>
              <a:t>**重要**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</a:t>
            </a:r>
            <a:r>
              <a:rPr sz="1800" b="1">
                <a:solidFill>
                  <a:srgbClr val="1B1B1F"/>
                </a:solidFill>
                <a:latin typeface="Microsoft JhengHei"/>
              </a:rPr>
              <a:t>重要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斜體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：在文字前後包覆 </a:t>
            </a:r>
            <a:r>
              <a:rPr sz="1800" b="1">
                <a:solidFill>
                  <a:srgbClr val="673AB7"/>
                </a:solidFill>
                <a:latin typeface="Consolas"/>
              </a:rPr>
              <a:t>*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，例如：</a:t>
            </a:r>
            <a:r>
              <a:rPr sz="1800" b="1">
                <a:solidFill>
                  <a:srgbClr val="673AB7"/>
                </a:solidFill>
                <a:latin typeface="Consolas"/>
              </a:rPr>
              <a:t>*強調*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*強調*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刪除線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：在文字前後包覆 </a:t>
            </a:r>
            <a:r>
              <a:rPr sz="1800" b="1">
                <a:solidFill>
                  <a:srgbClr val="673AB7"/>
                </a:solidFill>
                <a:latin typeface="Consolas"/>
              </a:rPr>
              <a:t>~~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，例如：</a:t>
            </a:r>
            <a:r>
              <a:rPr sz="1800" b="1">
                <a:solidFill>
                  <a:srgbClr val="673AB7"/>
                </a:solidFill>
                <a:latin typeface="Consolas"/>
              </a:rPr>
              <a:t>~~寫錯的內容~~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Markdown 語法：清單與待辦任務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清單能幫助筆記化繁為簡：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無序清單 (圓點)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：使用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-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加空格。例如：</a:t>
            </a:r>
            <a:r>
              <a:rPr sz="1800" b="1">
                <a:solidFill>
                  <a:srgbClr val="673AB7"/>
                </a:solidFill>
                <a:latin typeface="Consolas"/>
              </a:rPr>
              <a:t>- 蘋果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有序清單 (數字)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：使用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1.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加空格。例如：</a:t>
            </a:r>
            <a:r>
              <a:rPr sz="1800" b="1">
                <a:solidFill>
                  <a:srgbClr val="673AB7"/>
                </a:solidFill>
                <a:latin typeface="Consolas"/>
              </a:rPr>
              <a:t>1. 第一步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縮排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：按 </a:t>
            </a:r>
            <a:r>
              <a:rPr sz="1800" b="1">
                <a:solidFill>
                  <a:srgbClr val="673AB7"/>
                </a:solidFill>
                <a:latin typeface="Consolas"/>
              </a:rPr>
              <a:t>Tab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可以將列表縮排，按 </a:t>
            </a:r>
            <a:r>
              <a:rPr sz="1800" b="1">
                <a:solidFill>
                  <a:srgbClr val="673AB7"/>
                </a:solidFill>
                <a:latin typeface="Consolas"/>
              </a:rPr>
              <a:t>Shift + Tab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可以縮回上一層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任務清單 (打勾待辦)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：使用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- [ 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(未完成) 與 </a:t>
            </a:r>
            <a:r>
              <a:rPr sz="1800" b="1">
                <a:solidFill>
                  <a:srgbClr val="673AB7"/>
                </a:solidFill>
                <a:latin typeface="Consolas"/>
              </a:rPr>
              <a:t>- [x]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(已完成)</a:t>
            </a:r>
          </a:p>
          <a:p>
            <a:pPr lvl="2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*小技巧*：按 </a:t>
            </a:r>
            <a:r>
              <a:rPr sz="1600" b="1">
                <a:solidFill>
                  <a:srgbClr val="673AB7"/>
                </a:solidFill>
                <a:latin typeface="Consolas"/>
              </a:rPr>
              <a:t>Ctrl + Enter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 可在編輯時快速切換任務打勾狀態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Markdown 語法：引用與 Callout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引用區塊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：在開頭輸入 </a:t>
            </a:r>
            <a:r>
              <a:rPr sz="2000" b="1">
                <a:solidFill>
                  <a:srgbClr val="673AB7"/>
                </a:solidFill>
                <a:latin typeface="Consolas"/>
              </a:rPr>
              <a:t>&gt;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 代表引用名言。例如：</a:t>
            </a:r>
            <a:r>
              <a:rPr sz="2000" b="1">
                <a:solidFill>
                  <a:srgbClr val="673AB7"/>
                </a:solidFill>
                <a:latin typeface="Consolas"/>
              </a:rPr>
              <a:t>&gt; 知識就是力量。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Callout 彩色提示框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：Obsidian 特有的精美排版框：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673AB7"/>
                </a:solidFill>
                <a:latin typeface="Consolas"/>
              </a:rPr>
              <a:t>&gt; [!NOTE]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藍色一般提示框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673AB7"/>
                </a:solidFill>
                <a:latin typeface="Consolas"/>
              </a:rPr>
              <a:t>&gt; [!WARNING]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黃色警告框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673AB7"/>
                </a:solidFill>
                <a:latin typeface="Consolas"/>
              </a:rPr>
              <a:t>&gt; [!TIP]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綠色技巧提示框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673AB7"/>
                </a:solidFill>
                <a:latin typeface="Consolas"/>
              </a:rPr>
              <a:t>&gt; [!DANGER]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紅色危險標記框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水平分隔線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：輸入三個減號 </a:t>
            </a:r>
            <a:r>
              <a:rPr sz="2000" b="1">
                <a:solidFill>
                  <a:srgbClr val="673AB7"/>
                </a:solidFill>
                <a:latin typeface="Consolas"/>
              </a:rPr>
              <a:t>---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 即可產生一條水平線切分版面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Markdown 語法：程式碼與表格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行內程式碼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：使用單個反引號包裹，如 </a:t>
            </a:r>
            <a:r>
              <a:rPr sz="2000" b="1">
                <a:solidFill>
                  <a:srgbClr val="673AB7"/>
                </a:solidFill>
                <a:latin typeface="Consolas"/>
              </a:rPr>
              <a:t>ipconfig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多行程式碼區塊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：使用三個反引號包裹，並在開頭標註程式語言：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例如寫 </a:t>
            </a:r>
            <a:r>
              <a:rPr sz="1800" b="1">
                <a:solidFill>
                  <a:srgbClr val="673AB7"/>
                </a:solidFill>
                <a:latin typeface="Consolas"/>
              </a:rPr>
              <a:t/>
            </a:r>
            <a:r>
              <a:rPr sz="1800" b="1">
                <a:solidFill>
                  <a:srgbClr val="673AB7"/>
                </a:solidFill>
                <a:latin typeface="Consolas"/>
              </a:rPr>
              <a:t>python ... </a:t>
            </a:r>
            <a:r>
              <a:rPr sz="1800" b="1">
                <a:solidFill>
                  <a:srgbClr val="673AB7"/>
                </a:solidFill>
                <a:latin typeface="Consolas"/>
              </a:rPr>
              <a:t/>
            </a:r>
            <a:r>
              <a:rPr sz="1800">
                <a:solidFill>
                  <a:srgbClr val="1B1B1F"/>
                </a:solidFill>
                <a:latin typeface="Microsoft JhengHei"/>
              </a:rPr>
              <a:t> 會自動開啟 Python 的語法高亮 (彩色字)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表格整理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|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區隔直欄，第二行使用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|---|---|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來定義表格頭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例如：</a:t>
            </a:r>
            <a:r>
              <a:rPr sz="1800" b="1">
                <a:solidFill>
                  <a:srgbClr val="673AB7"/>
                </a:solidFill>
                <a:latin typeface="Consolas"/>
              </a:rPr>
              <a:t>| 姓名 | 科目 | 分數 |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編輯時按 </a:t>
            </a:r>
            <a:r>
              <a:rPr sz="1800" b="1">
                <a:solidFill>
                  <a:srgbClr val="673AB7"/>
                </a:solidFill>
                <a:latin typeface="Consolas"/>
              </a:rPr>
              <a:t>Tab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會自動建立並跳到下一格，非常便利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3AB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1B1B1F"/>
                </a:solidFill>
                <a:latin typeface="Microsoft JhengHei"/>
              </a:defRPr>
            </a:pPr>
            <a:r>
              <a:t>單元一：Zettelkasten 卡片盒筆記法</a:t>
            </a:r>
          </a:p>
          <a:p>
            <a:pPr algn="ctr">
              <a:defRPr sz="2000">
                <a:solidFill>
                  <a:srgbClr val="656575"/>
                </a:solidFill>
                <a:latin typeface="Microsoft JhengHei"/>
              </a:defRPr>
            </a:pPr>
            <a:r>
              <a:t>—— Obsidian 精選教學單元 ——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卡片盒筆記法：三大黃金原則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1. 原子化原則 (Atomicity)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一張卡片只記錄一個概念，拆得夠小才能靈活連結與組合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2. 用自己的話重寫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拒絕直接複製貼上課本內容，用自己的話寫下理解，才能真正吸收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3. 強制連結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每張卡片都必須與其他卡片產生連結，沒有連結的卡片就像孤島</a:t>
            </a:r>
          </a:p>
        </p:txBody>
      </p:sp>
      <p:pic>
        <p:nvPicPr>
          <p:cNvPr id="6" name="Picture 5" descr="obsidian_zettelkas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雙向連結：先連結，後補內容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什麼是雙向連結？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在 Obsidian 中使用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[[連結目標]]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建立關係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A 連結到 B 時，B 的反向連結 (Backlinks) 會自動提示 A 引用了它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先連結，後補內容 (Placeholder Links)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當你寫筆記想到新概念但尚未建立該筆記時，先打 </a:t>
            </a:r>
            <a:r>
              <a:rPr sz="1800" b="1">
                <a:solidFill>
                  <a:srgbClr val="673AB7"/>
                </a:solidFill>
                <a:latin typeface="Consolas"/>
              </a:rPr>
              <a:t>[[新概念]]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系統會呈現虛線連結，讓你不打斷手上的寫作思緒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事後按住 </a:t>
            </a:r>
            <a:r>
              <a:rPr sz="1800" b="1">
                <a:solidFill>
                  <a:srgbClr val="673AB7"/>
                </a:solidFill>
                <a:latin typeface="Consolas"/>
              </a:rPr>
              <a:t>Ctrl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點擊虛線，即可瞬間開啟該新筆記補齊內容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Zettelkasten 三種卡片類型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73AB7"/>
                </a:solidFill>
                <a:latin typeface="Microsoft JhengHei"/>
              </a:defRPr>
            </a:pPr>
            <a:r>
              <a:t>隨手卡 &amp; 文獻卡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 b="1">
                <a:solidFill>
                  <a:srgbClr val="1B1B1F"/>
                </a:solidFill>
                <a:latin typeface="Microsoft JhengHei"/>
              </a:rPr>
              <a:t>靈感卡 (Fleeting Notes)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: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隨手記下的點子、課堂靈感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壽命只有 24 小時，必須定期清空或整理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 b="1">
                <a:solidFill>
                  <a:srgbClr val="1B1B1F"/>
                </a:solidFill>
                <a:latin typeface="Microsoft JhengHei"/>
              </a:rPr>
              <a:t>文獻卡 (Literature Notes)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: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閱讀課本、文章或聽講的摘要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用自己的話記錄大意，並標明出處來源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56575"/>
                </a:solidFill>
                <a:latin typeface="Microsoft JhengHei"/>
              </a:defRPr>
            </a:pPr>
            <a:r>
              <a:t>永久卡 (Permanent Notes)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663440" cy="365760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 b="1">
                <a:solidFill>
                  <a:srgbClr val="1B1B1F"/>
                </a:solidFill>
                <a:latin typeface="Microsoft JhengHei"/>
              </a:rPr>
              <a:t>永久卡 (Permanent Notes)</a:t>
            </a:r>
            <a:r>
              <a:rPr sz="1600">
                <a:solidFill>
                  <a:srgbClr val="1B1B1F"/>
                </a:solidFill>
                <a:latin typeface="Microsoft JhengHei"/>
              </a:rPr>
              <a:t>: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經過整理思考後形成的完整觀點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可以獨立存在，不需依附其他背景資料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內含 </a:t>
            </a:r>
            <a:r>
              <a:rPr sz="1400" b="1">
                <a:solidFill>
                  <a:srgbClr val="673AB7"/>
                </a:solidFill>
                <a:latin typeface="Consolas"/>
              </a:rPr>
              <a:t>[[雙向連結]]</a:t>
            </a:r>
            <a:r>
              <a:rPr sz="1400">
                <a:solidFill>
                  <a:srgbClr val="1B1B1F"/>
                </a:solidFill>
                <a:latin typeface="Microsoft JhengHei"/>
              </a:rPr>
              <a:t> 與明確的個人思維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是您第二大腦知識體系的核心磚瓦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3AB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1B1B1F"/>
                </a:solidFill>
                <a:latin typeface="Microsoft JhengHei"/>
              </a:defRPr>
            </a:pPr>
            <a:r>
              <a:t>單元二：PARA 整理心法</a:t>
            </a:r>
          </a:p>
          <a:p>
            <a:pPr algn="ctr">
              <a:defRPr sz="2000">
                <a:solidFill>
                  <a:srgbClr val="656575"/>
                </a:solidFill>
                <a:latin typeface="Microsoft JhengHei"/>
              </a:defRPr>
            </a:pPr>
            <a:r>
              <a:t>—— Obsidian 精選教學單元 ——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P (Projects) 專案與 A (Areas) 領域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P: Projects (專案)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有明確目標、具體成果且有截止日期的任務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學生範例：🎒 歷史期末報告 (12/25交)、學測數學複習進度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A: Areas (領域)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需要長期維持、沒有明確截止日期的日常生活領域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學生範例：📚 數學科學習、🏀 籃球社訓練、❤️ 個人健康</a:t>
            </a:r>
          </a:p>
        </p:txBody>
      </p:sp>
      <p:pic>
        <p:nvPicPr>
          <p:cNvPr id="6" name="Picture 5" descr="obsidian_pa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R (Resources) 資源與 A (Archives) 封存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73AB7"/>
                </a:solidFill>
                <a:latin typeface="Microsoft JhengHei"/>
              </a:defRPr>
            </a:pPr>
            <a:r>
              <a:t>R: Resources (資源)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你感興趣、未來可能派上用場的資訊主題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沒有時間壓力，是個人專屬的素材資源庫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學生範例：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🎮 遊戲設計學習資料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🌌 業餘天文學新知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🎬 推薦閱讀書單與電影清單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21208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56575"/>
                </a:solidFill>
                <a:latin typeface="Microsoft JhengHei"/>
              </a:defRPr>
            </a:pPr>
            <a:r>
              <a:t>A: Archives (封存)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663440" cy="365760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已經完成、暫停或不再使用但不能刪除的檔案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封存是為了保持工作環境的清爽，不代表刪除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學生範例：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✅ 八年級國文科筆記 (已考完)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⏸️ 暫時中止的社團活動企劃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400">
                <a:solidFill>
                  <a:srgbClr val="1B1B1F"/>
                </a:solidFill>
                <a:latin typeface="Microsoft JhengHei"/>
              </a:rPr>
              <a:t>📦 過去做完的段考考卷掃描檔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3AB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1B1B1F"/>
                </a:solidFill>
                <a:latin typeface="Microsoft JhengHei"/>
              </a:defRPr>
            </a:pPr>
            <a:r>
              <a:t>單元三：MOC 內容地圖</a:t>
            </a:r>
          </a:p>
          <a:p>
            <a:pPr algn="ctr">
              <a:defRPr sz="2000">
                <a:solidFill>
                  <a:srgbClr val="656575"/>
                </a:solidFill>
                <a:latin typeface="Microsoft JhengHei"/>
              </a:defRPr>
            </a:pPr>
            <a:r>
              <a:t>—— Obsidian 精選教學單元 ——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MOC：解決蜘蛛網混亂的地圖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什麼是 MOC (Map of Content)？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當筆記累積到 200 篇以上，關係圖 (Graph) 會變成混亂的蜘蛛網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MOC 是一張「地圖筆記」，專門用來整理、導覽某個主題的相關連結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就像一本書的「目錄」，能幫助你重新整理知識結構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例如建立「數學 MOC」，內含「代數」、「幾何」等子筆記連結</a:t>
            </a:r>
          </a:p>
        </p:txBody>
      </p:sp>
      <p:pic>
        <p:nvPicPr>
          <p:cNvPr id="6" name="Picture 5" descr="obsidian_m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實作 MOC 的五個步驟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當某個主題的筆記數量累積到 5 篇以上時，即可開始建立 MOC：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步驟 1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：建立一篇新筆記，命名為 </a:t>
            </a:r>
            <a:r>
              <a:rPr sz="1800" b="1">
                <a:solidFill>
                  <a:srgbClr val="673AB7"/>
                </a:solidFill>
                <a:latin typeface="Consolas"/>
              </a:rPr>
              <a:t>MOC：主題名稱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(如 </a:t>
            </a:r>
            <a:r>
              <a:rPr sz="1800" b="1">
                <a:solidFill>
                  <a:srgbClr val="673AB7"/>
                </a:solidFill>
                <a:latin typeface="Consolas"/>
              </a:rPr>
              <a:t>MOC：高中物理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步驟 2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：在 MOC 中列出該主題的關鍵概念或章節大綱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步驟 3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：將大綱中的各概念文字套用 </a:t>
            </a:r>
            <a:r>
              <a:rPr sz="1800" b="1">
                <a:solidFill>
                  <a:srgbClr val="673AB7"/>
                </a:solidFill>
                <a:latin typeface="Consolas"/>
              </a:rPr>
              <a:t>[[雙向連結]]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連結至對應筆記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步驟 4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：在每個連結後面補上一句簡短說明，幫助回憶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步驟 5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：將這張 MOC 加入「書籤 (Bookmarks)」，以便每天快速查閱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每日筆記：思緒的候車室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Daily Notes (每日筆記)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 是收集想法的最佳入口：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啟用核心外掛後，點擊按鈕即可自動建立今天日期的筆記 (如 </a:t>
            </a:r>
            <a:r>
              <a:rPr sz="1800" b="1">
                <a:solidFill>
                  <a:srgbClr val="673AB7"/>
                </a:solidFill>
                <a:latin typeface="Consolas"/>
              </a:rPr>
              <a:t>2026-06-13.md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)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每天上課的靈感、隨手記錄的待辦、當天的心情都可以丟在這裡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>
                <a:solidFill>
                  <a:srgbClr val="1B1B1F"/>
                </a:solidFill>
                <a:latin typeface="Microsoft JhengHei"/>
              </a:rPr>
              <a:t>搭配 </a:t>
            </a:r>
            <a:r>
              <a:rPr sz="1800" b="1">
                <a:solidFill>
                  <a:srgbClr val="1B1B1F"/>
                </a:solidFill>
                <a:latin typeface="Microsoft JhengHei"/>
              </a:rPr>
              <a:t>QuickAdd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可以設定快捷鍵，免開筆記直接往 Daily Note 追加文字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核心觀念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：每日筆記是思緒的「候車室」，不是儲藏室！每天睡前應花 5 分鐘將裡面的資訊歸檔到對的資料夾或整理成永久卡。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3AB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1B1B1F"/>
                </a:solidFill>
                <a:latin typeface="Microsoft JhengHei"/>
              </a:defRPr>
            </a:pPr>
            <a:r>
              <a:t>單元四：畫布 Canvas 與視覺思考</a:t>
            </a:r>
          </a:p>
          <a:p>
            <a:pPr algn="ctr">
              <a:defRPr sz="2000">
                <a:solidFill>
                  <a:srgbClr val="656575"/>
                </a:solidFill>
                <a:latin typeface="Microsoft JhengHei"/>
              </a:defRPr>
            </a:pPr>
            <a:r>
              <a:t>—— Obsidian 精選教學單元 ——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Canvas：無限大的視覺化白板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937760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Canvas (畫布) 功能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Obsidian 內建的無限白板，讓你用視覺化方式整理知識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可自由將已寫好的筆記卡片、獨立文字框、圖片甚至網址拉入畫布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使用箭頭連線標示概念之間的因果、邏輯關係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600">
                <a:solidFill>
                  <a:srgbClr val="1B1B1F"/>
                </a:solidFill>
                <a:latin typeface="Microsoft JhengHei"/>
              </a:rPr>
              <a:t>非常適合用在：歷史事件時間線排列、腦力激盪、考前心智圖複習</a:t>
            </a:r>
          </a:p>
        </p:txBody>
      </p:sp>
      <p:pic>
        <p:nvPicPr>
          <p:cNvPr id="6" name="Picture 5" descr="obsidian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84832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學生專屬工作流與備份策略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每日學習工作流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上課時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使用 Daily Notes 快速記下 Fleeting Notes 或文獻卡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下課當天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將雜亂的筆記用自己的話整理成永久卡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週末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建立雙向連結，更新該科目的 MOC 學習地圖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段考前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➡ 打開 MOC 與 Canvas 白板，進行系統化總複習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 b="1">
                <a:solidFill>
                  <a:srgbClr val="1B1B1F"/>
                </a:solidFill>
                <a:latin typeface="Microsoft JhengHei"/>
              </a:rPr>
              <a:t>安全備份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：使用 </a:t>
            </a:r>
            <a:r>
              <a:rPr sz="2000" b="1">
                <a:solidFill>
                  <a:srgbClr val="1B1B1F"/>
                </a:solidFill>
                <a:latin typeface="Microsoft JhengHei"/>
              </a:rPr>
              <a:t>Obsidian Git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 外掛，每天自動將筆記上傳備份至 GitHub，再也不怕電腦壞掉或硬碟受損！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4048"/>
            <a:ext cx="91440" cy="50292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20040"/>
            <a:ext cx="104973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9688"/>
                </a:solidFill>
                <a:latin typeface="Microsoft JhengHei"/>
              </a:defRPr>
            </a:pPr>
            <a:r>
              <a:t>今日開始，打造你的第二大腦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5912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4392" cy="4206240"/>
          </a:xfrm>
          <a:prstGeom prst="rect">
            <a:avLst/>
          </a:prstGeom>
          <a:noFill/>
        </p:spPr>
        <p:txBody>
          <a:bodyPr wrap="square" lIns="228600" rIns="228600" tIns="228600" bIns="22860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知識不是力量，</a:t>
            </a:r>
            <a:r>
              <a:rPr sz="2000" b="1">
                <a:solidFill>
                  <a:srgbClr val="1B1B1F"/>
                </a:solidFill>
                <a:latin typeface="Microsoft JhengHei"/>
              </a:rPr>
              <a:t>整理過且能夠靈活連結的知識</a:t>
            </a:r>
            <a:r>
              <a:rPr sz="2000">
                <a:solidFill>
                  <a:srgbClr val="1B1B1F"/>
                </a:solidFill>
                <a:latin typeface="Microsoft JhengHei"/>
              </a:rPr>
              <a:t>才是力量！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今日回家就做這三件事：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1. 下載安裝 Obsidian</a:t>
            </a:r>
            <a:r>
              <a:rPr sz="1800">
                <a:solidFill>
                  <a:srgbClr val="1B1B1F"/>
                </a:solidFill>
                <a:latin typeface="Microsoft JhengHei"/>
              </a:rPr>
              <a:t> 並建立名為「我的學習筆記」的 Vault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2. 建立 PARA 四大資料夾結構</a:t>
            </a:r>
          </a:p>
          <a:p>
            <a:pPr lvl="1"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1800" b="1">
                <a:solidFill>
                  <a:srgbClr val="1B1B1F"/>
                </a:solidFill>
                <a:latin typeface="Microsoft JhengHei"/>
              </a:rPr>
              <a:t>3. 寫下第一篇課堂筆記，並建立第一個雙向連結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>
                <a:latin typeface="Microsoft JhengHei"/>
              </a:defRPr>
            </a:pPr>
            <a:r>
              <a:rPr sz="2000">
                <a:solidFill>
                  <a:srgbClr val="1B1B1F"/>
                </a:solidFill>
                <a:latin typeface="Microsoft JhengHei"/>
              </a:rPr>
              <a:t>十年後的你，會感謝今天開始整理的自己。祝您學習愉快！🎉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