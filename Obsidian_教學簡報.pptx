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5669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Obsidian 第二大腦</a:t>
            </a:r>
          </a:p>
          <a:p>
            <a:pPr>
              <a:defRPr sz="2000">
                <a:solidFill>
                  <a:srgbClr val="00E5FF"/>
                </a:solidFill>
                <a:latin typeface="Microsoft JhengHei"/>
              </a:defRPr>
            </a:pPr>
            <a:r>
              <a:t>高中/國中版數位學習與知識管理指南</a:t>
            </a:r>
          </a:p>
        </p:txBody>
      </p:sp>
      <p:pic>
        <p:nvPicPr>
          <p:cNvPr id="3" name="Picture 2" descr="obsidian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你的大腦不是硬碟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大腦擅長「思考與聯想」，不擅長「記憶細節」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人腦就像記憶體 (RAM) — 容量有限，斷電就忘，且受遺忘曲線影響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與其拼命死記硬背，不如建立穩健的「外部系統」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建立第二大腦，能有效減輕腦部負擔，釋放深度思考的創造力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什麼是第二大腦與 CODE 法則？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第二大腦是個人化的數位思考外掛與系統，幫助我們管理知識與生活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**CODE 法則的四個步驟**：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**Capture (捕捉)**: 快速記錄有價值的靈感與課堂資料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**Organize (整理)**: 將收集來的資訊分類歸檔，便於未來存取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**Distill (萃取)**: 提煉文章或課堂的精華重點與核心觀念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**Express (表達)**: 整合所學，產出期末報告、簡報或作文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Obsidian 的三大核心堅持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**1. 本地優先 (Local-first)**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所有筆記檔案直接儲存在你的本機電腦，安全、私密且完全離線可用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**2. 純文字檔案 (Markdown)**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筆記採用標準的 `.md` 格式，不用擔心軟體倒閉，50 年後依然能打開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**3. 雙向連結 (Networked)**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筆記之間能互相串連，模擬大腦神經元，以網狀連結取代古板的樹狀資料夾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主流筆記工具大比拼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C4DFF"/>
                </a:solidFill>
                <a:latin typeface="Microsoft JhengHei"/>
              </a:defRPr>
            </a:pPr>
            <a:r>
              <a:t>Obsidian (推薦選擇)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完全免費且可離線使用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雙向連結與視覺化知識圖譜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檔案存在本地，完全擁有自主權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大量開源社群外掛，可任意擴充功能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1C4E9"/>
                </a:solidFill>
                <a:latin typeface="Microsoft JhengHei"/>
              </a:defRPr>
            </a:pPr>
            <a:r>
              <a:t>其他筆記軟體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Notion: 資料庫功能強大，但過於複雜且必須連網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Evernote: 封閉格式、歷史冗長，且收費營運面臨挑戰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Apple Notes: 功能極簡，不適合做跨領域知識的關聯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開始第一步：建立 Vault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**什麼是 Vault (儲存庫)？**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在 Obsidian 中，一個 Vault 就是電腦上的一個一般資料夾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**建立步驟**：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前往官網 `https://obsidian.md` 下載安裝檔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打開後切換成繁體中文語言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點擊「建立新儲存庫」，命名為「我的學習筆記」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選擇放在桌面或文件等您容易找到的位置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Markdown 語法：標題與粗斜體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Markdown 讓您不需要使用滑鼠點擊工具列，只靠鍵盤符號就能排版：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**標題**：使用 `#` 加上空格，`#` 越多標題越小。例如：</a:t>
            </a:r>
          </a:p>
          <a:p>
            <a:pPr lvl="2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`# 一級標題` (文章主標題)</a:t>
            </a:r>
          </a:p>
          <a:p>
            <a:pPr lvl="2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`## 二級標題` (章節大標)</a:t>
            </a:r>
          </a:p>
          <a:p>
            <a:pPr lvl="2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`### 三級標題` (小節標題)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**粗體**：在文字前後包覆 `**`，例如：`**重要**` ➡ **重要**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**斜體**：在文字前後包覆 `*`，例如：`*強調*` ➡ *強調*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**刪除線**：在文字前後包覆 `~~`，例如：`~~寫錯的內容~~`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Markdown 語法：清單與待辦任務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清單能幫助筆記化繁為簡：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**無序清單 (圓點)**：使用 `-` 加空格。例如：`- 蘋果`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**有序清單 (數字)**：使用 `1.` 加空格。例如：`1. 第一步`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**縮排**：按 `Tab` 可以將列表縮排，按 `Shift + Tab` 可以縮回上一層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**任務清單 (打勾待辦)**：使用 `- [ ]` (未完成) 與 `- [x]` (已完成)</a:t>
            </a:r>
          </a:p>
          <a:p>
            <a:pPr lvl="2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*小技巧*：按 `Ctrl + Enter` 可在編輯時快速切換任務打勾狀態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Markdown 語法：引用與 Callout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**引用區塊**：在開頭輸入 `&gt;` 代表引用名言。例如：`&gt; 知識就是力量。`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**Callout 彩色提示框**：Obsidian 特有的精美排版框：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`&gt; [!NOTE]` ➡ 藍色一般提示框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`&gt; [!WARNING]` ➡ 黃色警告框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`&gt; [!TIP]` ➡ 綠色技巧提示框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`&gt; [!DANGER]` ➡ 紅色危險標記框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**水平分隔線**：輸入三個減號 `---` 即可產生一條水平線切分版面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Markdown 語法：程式碼與表格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**行內程式碼**：使用單個反引號包裹，如 `ipconfig`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**多行程式碼區塊**：使用三個反引號包裹，並在開頭標註程式語言：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例如寫 ```python ... ``` 會自動開啟 Python 的語法高亮 (彩色字)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**表格整理**：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用 `|` 區隔直欄，第二行使用 `|---|---|` 來定義表格頭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例如：`| 姓名 | 科目 | 分數 |`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編輯時按 `Tab` 會自動建立並跳到下一格，非常便利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4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單元一：Zettelkasten 卡片盒筆記法</a:t>
            </a:r>
          </a:p>
          <a:p>
            <a:pPr algn="ctr">
              <a:defRPr sz="2000">
                <a:solidFill>
                  <a:srgbClr val="D1C4E9"/>
                </a:solidFill>
                <a:latin typeface="Microsoft JhengHei"/>
              </a:defRPr>
            </a:pPr>
            <a:r>
              <a:t>—— Obsidian 精選教學單元 ——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卡片盒筆記法：三大黃金原則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9377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**1. 原子化原則 (Atomicity)**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一張卡片只記錄一個概念，拆得夠小才能靈活連結與組合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**2. 用自己的話重寫**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拒絕直接複製貼上課本內容，用自己的話寫下理解，才能真正吸收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**3. 強制連結**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每張卡片都必須與其他卡片產生連結，沒有連結的卡片就像孤島</a:t>
            </a:r>
          </a:p>
        </p:txBody>
      </p:sp>
      <p:pic>
        <p:nvPicPr>
          <p:cNvPr id="5" name="Picture 4" descr="obsidian_zettelkas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84832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雙向連結：先連結，後補內容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**什麼是雙向連結？**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在 Obsidian 中使用 `[[連結目標]]` 建立關係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A 連結到 B 時，B 的反向連結 (Backlinks) 會自動提示 A 引用了它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**先連結，後補內容 (Placeholder Links)**：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當你寫筆記想到新概念但尚未建立該筆記時，先打 `[[新概念]]`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系統會呈現虛線連結，讓你不打斷手上的寫作思緒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事後按住 `Ctrl` 點擊虛線，即可瞬間開啟該新筆記補齊內容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Zettelkasten 三種卡片類型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C4DFF"/>
                </a:solidFill>
                <a:latin typeface="Microsoft JhengHei"/>
              </a:defRPr>
            </a:pPr>
            <a:r>
              <a:t>隨手卡 &amp; 文獻卡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**靈感卡 (Fleeting Notes)**: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隨手記下的點子、課堂靈感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壽命只有 24 小時，必須定期清空或整理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**文獻卡 (Literature Notes)**: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閱讀課本、文章或聽講的摘要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用自己的話記錄大意，並標明出處來源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1C4E9"/>
                </a:solidFill>
                <a:latin typeface="Microsoft JhengHei"/>
              </a:defRPr>
            </a:pPr>
            <a:r>
              <a:t>永久卡 (Permanent Notes)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**永久卡 (Permanent Notes)**: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經過整理思考後形成的完整觀點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可以獨立存在，不需依附其他背景資料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內含 `[[雙向連結]]` 與明確的個人思維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是您第二大腦知識體系的核心磚瓦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4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單元二：PARA 整理心法</a:t>
            </a:r>
          </a:p>
          <a:p>
            <a:pPr algn="ctr">
              <a:defRPr sz="2000">
                <a:solidFill>
                  <a:srgbClr val="D1C4E9"/>
                </a:solidFill>
                <a:latin typeface="Microsoft JhengHei"/>
              </a:defRPr>
            </a:pPr>
            <a:r>
              <a:t>—— Obsidian 精選教學單元 ——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P (Projects) 專案與 A (Areas) 領域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9377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**P: Projects (專案)**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有明確目標、具體成果且有截止日期的任務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學生範例：🎒 歷史期末報告 (12/25交)、學測數學複習進度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**A: Areas (領域)**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需要長期維持、沒有明確截止日期的日常生活領域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學生範例：📚 數學科學習、🏀 籃球社訓練、❤️ 個人健康</a:t>
            </a:r>
          </a:p>
        </p:txBody>
      </p:sp>
      <p:pic>
        <p:nvPicPr>
          <p:cNvPr id="5" name="Picture 4" descr="obsidian_p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84832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R (Resources) 資源與 A (Archives) 封存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C4DFF"/>
                </a:solidFill>
                <a:latin typeface="Microsoft JhengHei"/>
              </a:defRPr>
            </a:pPr>
            <a:r>
              <a:t>R: Resources (資源)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你感興趣、未來可能派上用場的資訊主題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沒有時間壓力，是個人專屬的素材資源庫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學生範例：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🎮 遊戲設計學習資料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🌌 業餘天文學新知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🎬 推薦閱讀書單與電影清單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1C4E9"/>
                </a:solidFill>
                <a:latin typeface="Microsoft JhengHei"/>
              </a:defRPr>
            </a:pPr>
            <a:r>
              <a:t>A: Archives (封存)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已經完成、暫停或不再使用但不能刪除的檔案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封存是為了保持工作環境的清爽，不代表刪除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學生範例：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✅ 八年級國文科筆記 (已考完)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⏸️ 暫時中止的社團活動企劃</a:t>
            </a:r>
          </a:p>
          <a:p>
            <a:pPr lvl="1"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📦 過去做完的段考考卷掃描檔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4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單元三：MOC 內容地圖</a:t>
            </a:r>
          </a:p>
          <a:p>
            <a:pPr algn="ctr">
              <a:defRPr sz="2000">
                <a:solidFill>
                  <a:srgbClr val="D1C4E9"/>
                </a:solidFill>
                <a:latin typeface="Microsoft JhengHei"/>
              </a:defRPr>
            </a:pPr>
            <a:r>
              <a:t>—— Obsidian 精選教學單元 ——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MOC：解決蜘蛛網混亂的地圖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9377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**什麼是 MOC (Map of Content)？**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當筆記累積到 200 篇以上，關係圖 (Graph) 會變成混亂的蜘蛛網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MOC 是一張「地圖筆記」，專門用來整理、導覽某個主題的相關連結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就像一本書的「目錄」，能幫助你重新整理知識結構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例如建立「數學 MOC」，內含「代數」、「幾何」等子筆記連結</a:t>
            </a:r>
          </a:p>
        </p:txBody>
      </p:sp>
      <p:pic>
        <p:nvPicPr>
          <p:cNvPr id="5" name="Picture 4" descr="obsidian_m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84832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實作 MOC 的五個步驟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當某個主題的筆記數量累積到 5 篇以上時，即可開始建立 MOC：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**步驟 1**：建立一篇新筆記，命名為 `MOC：主題名稱` (如 `MOC：高中物理`)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**步驟 2**：在 MOC 中列出該主題的關鍵概念或章節大綱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**步驟 3**：將大綱中的各概念文字套用 `[[雙向連結]]` 連結至對應筆記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**步驟 4**：在每個連結後面補上一句簡短說明，幫助回憶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**步驟 5**：將這張 MOC 加入「書籤 (Bookmarks)」，以便每天快速查閱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每日筆記：思緒的候車室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**Daily Notes (每日筆記)** 是收集想法的最佳入口：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啟用核心外掛後，點擊按鈕即可自動建立今天日期的筆記 (如 `2026-06-13.md`)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每天上課的靈感、隨手記錄的待辦、當天的心情都可以丟在這裡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搭配 **QuickAdd** 可以設定快捷鍵，免開筆記直接往 Daily Note 追加文字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**核心觀念**：每日筆記是思緒的「候車室」，不是儲藏室！每天睡前應花 5 分鐘將裡面的資訊歸檔到對的資料夾或整理成永久卡。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4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單元四：畫布 Canvas 與視覺思考</a:t>
            </a:r>
          </a:p>
          <a:p>
            <a:pPr algn="ctr">
              <a:defRPr sz="2000">
                <a:solidFill>
                  <a:srgbClr val="D1C4E9"/>
                </a:solidFill>
                <a:latin typeface="Microsoft JhengHei"/>
              </a:defRPr>
            </a:pPr>
            <a:r>
              <a:t>—— Obsidian 精選教學單元 ——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Canvas：無限大的視覺化白板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9377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**Canvas (畫布) 功能**：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Obsidian 內建的無限白板，讓你用視覺化方式整理知識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可自由將已寫好的筆記卡片、獨立文字框、圖片甚至網址拉入畫布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使用箭頭連線標示概念之間的因果、邏輯關係</a:t>
            </a:r>
          </a:p>
          <a:p>
            <a:pPr lvl="1">
              <a:spcAft>
                <a:spcPts val="1000"/>
              </a:spcAft>
              <a:defRPr sz="1600">
                <a:solidFill>
                  <a:srgbClr val="FFFFFF"/>
                </a:solidFill>
                <a:latin typeface="Microsoft JhengHei"/>
              </a:defRPr>
            </a:pPr>
            <a:r>
              <a:t>非常適合用在：歷史事件時間線排列、腦力激盪、考前心智圖複習</a:t>
            </a:r>
          </a:p>
        </p:txBody>
      </p:sp>
      <p:pic>
        <p:nvPicPr>
          <p:cNvPr id="5" name="Picture 4" descr="obsidian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84832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學生專屬工作流與備份策略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**每日學習工作流**：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**上課時** ➡ 使用 Daily Notes 快速記下 Fleeting Notes 或文獻卡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**下課當天** ➡ 將雜亂的筆記用自己的話整理成永久卡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**週末** ➡ 建立雙向連結，更新該科目的 MOC 學習地圖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**段考前** ➡ 打開 MOC 與 Canvas 白板，進行系統化總複習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**安全備份**：使用 **Obsidian Git** 外掛，每天自動將筆記上傳備份至 GitHub，再也不怕電腦壞掉或硬碟受損！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Microsoft JhengHei"/>
              </a:defRPr>
            </a:pPr>
            <a:r>
              <a:t>今日開始，打造你的第二大腦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知識不是力量，**整理過且能夠靈活連結的知識**才是力量！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今日回家就做這三件事：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**1. 下載安裝 Obsidian** 並建立名為「我的學習筆記」的 Vault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**2. 建立 PARA 四大資料夾結構**</a:t>
            </a:r>
          </a:p>
          <a:p>
            <a:pPr lvl="1">
              <a:spcAft>
                <a:spcPts val="1000"/>
              </a:spcAft>
              <a:defRPr sz="1800">
                <a:solidFill>
                  <a:srgbClr val="FFFFFF"/>
                </a:solidFill>
                <a:latin typeface="Microsoft JhengHei"/>
              </a:defRPr>
            </a:pPr>
            <a:r>
              <a:t>**3. 寫下第一篇課堂筆記，並建立第一個雙向連結**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Microsoft JhengHei"/>
              </a:defRPr>
            </a:pPr>
            <a:r>
              <a:t>十年後的你，會感謝今天開始整理的自己。祝您學習愉快！🎉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